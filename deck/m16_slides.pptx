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Open Sans 1" charset="1" panose="00000000000000000000"/>
      <p:regular r:id="rId10"/>
    </p:embeddedFont>
    <p:embeddedFont>
      <p:font typeface="Open Sans 2" charset="1" panose="020B06060305040202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2613" y="1612974"/>
            <a:ext cx="3286815" cy="517369"/>
            <a:chOff x="0" y="0"/>
            <a:chExt cx="2057400" cy="323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7400" cy="323850"/>
            </a:xfrm>
            <a:custGeom>
              <a:avLst/>
              <a:gdLst/>
              <a:ahLst/>
              <a:cxnLst/>
              <a:rect r="r" b="b" t="t" l="l"/>
              <a:pathLst>
                <a:path h="323850" w="2057400">
                  <a:moveTo>
                    <a:pt x="0" y="306705"/>
                  </a:moveTo>
                  <a:lnTo>
                    <a:pt x="0" y="17145"/>
                  </a:lnTo>
                  <a:cubicBezTo>
                    <a:pt x="0" y="14859"/>
                    <a:pt x="381" y="12700"/>
                    <a:pt x="1270" y="10541"/>
                  </a:cubicBezTo>
                  <a:cubicBezTo>
                    <a:pt x="2159" y="8382"/>
                    <a:pt x="3429" y="6604"/>
                    <a:pt x="5080" y="5080"/>
                  </a:cubicBezTo>
                  <a:cubicBezTo>
                    <a:pt x="6731" y="3556"/>
                    <a:pt x="8509" y="2159"/>
                    <a:pt x="10541" y="1270"/>
                  </a:cubicBezTo>
                  <a:cubicBezTo>
                    <a:pt x="12573" y="381"/>
                    <a:pt x="14859" y="0"/>
                    <a:pt x="17145" y="0"/>
                  </a:cubicBezTo>
                  <a:lnTo>
                    <a:pt x="2040255" y="0"/>
                  </a:lnTo>
                  <a:cubicBezTo>
                    <a:pt x="2042541" y="0"/>
                    <a:pt x="2044700" y="381"/>
                    <a:pt x="2046859" y="1270"/>
                  </a:cubicBezTo>
                  <a:cubicBezTo>
                    <a:pt x="2049018" y="2159"/>
                    <a:pt x="2050796" y="3429"/>
                    <a:pt x="2052447" y="4953"/>
                  </a:cubicBezTo>
                  <a:cubicBezTo>
                    <a:pt x="2054098" y="6477"/>
                    <a:pt x="2055241" y="8382"/>
                    <a:pt x="2056130" y="10541"/>
                  </a:cubicBezTo>
                  <a:cubicBezTo>
                    <a:pt x="2057019" y="12700"/>
                    <a:pt x="2057400" y="14859"/>
                    <a:pt x="2057400" y="17145"/>
                  </a:cubicBezTo>
                  <a:lnTo>
                    <a:pt x="2057400" y="306705"/>
                  </a:lnTo>
                  <a:cubicBezTo>
                    <a:pt x="2057400" y="308991"/>
                    <a:pt x="2057019" y="311150"/>
                    <a:pt x="2056130" y="313309"/>
                  </a:cubicBezTo>
                  <a:cubicBezTo>
                    <a:pt x="2055241" y="315468"/>
                    <a:pt x="2053971" y="317246"/>
                    <a:pt x="2052447" y="318897"/>
                  </a:cubicBezTo>
                  <a:cubicBezTo>
                    <a:pt x="2050923" y="320548"/>
                    <a:pt x="2049018" y="321691"/>
                    <a:pt x="2046859" y="322580"/>
                  </a:cubicBezTo>
                  <a:cubicBezTo>
                    <a:pt x="2044700" y="323469"/>
                    <a:pt x="2042541" y="323850"/>
                    <a:pt x="2040255" y="323850"/>
                  </a:cubicBezTo>
                  <a:lnTo>
                    <a:pt x="17145" y="323850"/>
                  </a:lnTo>
                  <a:cubicBezTo>
                    <a:pt x="14859" y="323850"/>
                    <a:pt x="12700" y="323469"/>
                    <a:pt x="10541" y="322580"/>
                  </a:cubicBezTo>
                  <a:cubicBezTo>
                    <a:pt x="8382" y="321691"/>
                    <a:pt x="6604" y="320421"/>
                    <a:pt x="5080" y="318770"/>
                  </a:cubicBezTo>
                  <a:cubicBezTo>
                    <a:pt x="3556" y="317119"/>
                    <a:pt x="2159" y="315341"/>
                    <a:pt x="1270" y="313309"/>
                  </a:cubicBezTo>
                  <a:cubicBezTo>
                    <a:pt x="381" y="311277"/>
                    <a:pt x="0" y="308991"/>
                    <a:pt x="0" y="306705"/>
                  </a:cubicBezTo>
                  <a:close/>
                </a:path>
              </a:pathLst>
            </a:custGeom>
            <a:solidFill>
              <a:srgbClr val="49490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1163" y="4585304"/>
            <a:ext cx="16545658" cy="1298490"/>
            <a:chOff x="0" y="0"/>
            <a:chExt cx="1035685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3409950" cy="685800"/>
            </a:xfrm>
            <a:custGeom>
              <a:avLst/>
              <a:gdLst/>
              <a:ahLst/>
              <a:cxnLst/>
              <a:rect r="r" b="b" t="t" l="l"/>
              <a:pathLst>
                <a:path h="685800" w="3409950">
                  <a:moveTo>
                    <a:pt x="3238500" y="0"/>
                  </a:moveTo>
                  <a:lnTo>
                    <a:pt x="3409950" y="342900"/>
                  </a:lnTo>
                  <a:lnTo>
                    <a:pt x="3238500" y="685800"/>
                  </a:ln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238500" y="0"/>
                  </a:lnTo>
                  <a:close/>
                </a:path>
              </a:pathLst>
            </a:custGeom>
            <a:solidFill>
              <a:srgbClr val="3E3E3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473450" y="63500"/>
              <a:ext cx="3409950" cy="685800"/>
            </a:xfrm>
            <a:custGeom>
              <a:avLst/>
              <a:gdLst/>
              <a:ahLst/>
              <a:cxnLst/>
              <a:rect r="r" b="b" t="t" l="l"/>
              <a:pathLst>
                <a:path h="685800" w="3409950">
                  <a:moveTo>
                    <a:pt x="3238500" y="0"/>
                  </a:moveTo>
                  <a:lnTo>
                    <a:pt x="3409950" y="342900"/>
                  </a:lnTo>
                  <a:lnTo>
                    <a:pt x="3238500" y="685800"/>
                  </a:ln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238500" y="0"/>
                  </a:lnTo>
                  <a:close/>
                </a:path>
              </a:pathLst>
            </a:custGeom>
            <a:solidFill>
              <a:srgbClr val="3E3E3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883400" y="63500"/>
              <a:ext cx="3409950" cy="685800"/>
            </a:xfrm>
            <a:custGeom>
              <a:avLst/>
              <a:gdLst/>
              <a:ahLst/>
              <a:cxnLst/>
              <a:rect r="r" b="b" t="t" l="l"/>
              <a:pathLst>
                <a:path h="685800" w="3409950">
                  <a:moveTo>
                    <a:pt x="3238500" y="0"/>
                  </a:moveTo>
                  <a:lnTo>
                    <a:pt x="3409950" y="342900"/>
                  </a:lnTo>
                  <a:lnTo>
                    <a:pt x="3238500" y="685800"/>
                  </a:lnTo>
                  <a:lnTo>
                    <a:pt x="0" y="685800"/>
                  </a:lnTo>
                  <a:lnTo>
                    <a:pt x="171450" y="342900"/>
                  </a:lnTo>
                  <a:lnTo>
                    <a:pt x="0" y="0"/>
                  </a:lnTo>
                  <a:lnTo>
                    <a:pt x="3238500" y="0"/>
                  </a:lnTo>
                  <a:close/>
                </a:path>
              </a:pathLst>
            </a:custGeom>
            <a:solidFill>
              <a:srgbClr val="3E3E3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36908" y="1680297"/>
            <a:ext cx="3017296" cy="32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725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POST-MERGER INTEGRATION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2613" y="2091113"/>
            <a:ext cx="13264246" cy="102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4"/>
              </a:lnSpc>
            </a:pPr>
            <a:r>
              <a:rPr lang="en-US" sz="5391" spc="86">
                <a:solidFill>
                  <a:srgbClr val="FEFEFE"/>
                </a:solidFill>
                <a:latin typeface="Open Sans 2"/>
                <a:ea typeface="Open Sans 2"/>
                <a:cs typeface="Open Sans 2"/>
                <a:sym typeface="Open Sans 2"/>
              </a:rPr>
              <a:t>PMI Plan: Key Phases &amp; Synergy Tracking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5810" y="3280336"/>
            <a:ext cx="72569" cy="59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6514" y="6611175"/>
            <a:ext cx="4688641" cy="129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Ensure business continuity, secure key talent, and establish immediate communication channels.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94106" y="6611175"/>
            <a:ext cx="4674079" cy="129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Integrate core operational systems, standardize processes, and align IT infrastructure.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2613" y="3461311"/>
            <a:ext cx="15395502" cy="41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Asuccessful integration requires astructuredapproach,focusingonstabilization,systemsalignment,andcommercial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2613" y="3902596"/>
            <a:ext cx="5570938" cy="41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integration to unlock full synergy potential.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41697" y="7037243"/>
            <a:ext cx="5045382" cy="129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Merge sales, marketing, and customer support functions to optimize market reach and client engagement.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16277" y="4950891"/>
            <a:ext cx="163017" cy="56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9"/>
              </a:lnSpc>
            </a:pPr>
            <a:r>
              <a:rPr lang="en-US" sz="3235" spc="5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30590" y="4950891"/>
            <a:ext cx="230914" cy="56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9"/>
              </a:lnSpc>
            </a:pPr>
            <a:r>
              <a:rPr lang="en-US" sz="3235" spc="5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472946" y="4950891"/>
            <a:ext cx="241809" cy="56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9"/>
              </a:lnSpc>
            </a:pPr>
            <a:r>
              <a:rPr lang="en-US" sz="3235" spc="51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6514" y="6026257"/>
            <a:ext cx="3139882" cy="46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43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Month 1-2: Stabilize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94106" y="6026257"/>
            <a:ext cx="3252334" cy="46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43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Month 3-4: Systems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41697" y="6064357"/>
            <a:ext cx="3927485" cy="85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sz="2695" spc="43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Month 5-6: Commercial Integration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1163" y="3733167"/>
            <a:ext cx="16545658" cy="4220103"/>
          </a:xfrm>
          <a:custGeom>
            <a:avLst/>
            <a:gdLst/>
            <a:ahLst/>
            <a:cxnLst/>
            <a:rect r="r" b="b" t="t" l="l"/>
            <a:pathLst>
              <a:path h="4220103" w="16545658">
                <a:moveTo>
                  <a:pt x="0" y="0"/>
                </a:moveTo>
                <a:lnTo>
                  <a:pt x="16545659" y="0"/>
                </a:lnTo>
                <a:lnTo>
                  <a:pt x="16545659" y="4220103"/>
                </a:lnTo>
                <a:lnTo>
                  <a:pt x="0" y="42201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72613" y="2105286"/>
            <a:ext cx="9293560" cy="463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5"/>
              </a:lnSpc>
            </a:pPr>
            <a:r>
              <a:rPr lang="en-US" sz="5391" spc="86">
                <a:solidFill>
                  <a:srgbClr val="FEFEFE"/>
                </a:solidFill>
                <a:latin typeface="Open Sans 2"/>
                <a:ea typeface="Open Sans 2"/>
                <a:cs typeface="Open Sans 2"/>
                <a:sym typeface="Open Sans 2"/>
              </a:rPr>
              <a:t>Tracking Synergy Realization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44258" y="2869225"/>
            <a:ext cx="72645" cy="59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1731" y="4603933"/>
            <a:ext cx="2842410" cy="298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Cost Savings</a:t>
            </a:r>
          </a:p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Revenue Growth Operational Efficiency Market Share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47425" y="4603933"/>
            <a:ext cx="2396514" cy="298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15% Reduction</a:t>
            </a:r>
          </a:p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10% Increase 20% Improvement 5% Expansion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25510" y="4603933"/>
            <a:ext cx="1640242" cy="298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3% Achieved</a:t>
            </a:r>
          </a:p>
          <a:p>
            <a:pPr algn="just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2% Achieved 5% Achieved 1% Achieved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03595" y="4603933"/>
            <a:ext cx="1873515" cy="298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8% Achieved</a:t>
            </a:r>
          </a:p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5% Achieved 12% Achieved 2.5% Achieved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2613" y="7936398"/>
            <a:ext cx="14878635" cy="59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Regular monitoring and reporting will highlight progress and allow for timely adjustments to integration strategies.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2613" y="3088300"/>
            <a:ext cx="16380283" cy="377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Quantifiablemetricswilldriveaccountabilityandensurethatexpectedsynergies translate into tangible value post-acquisition.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1731" y="4002432"/>
            <a:ext cx="2204661" cy="46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43">
                <a:solidFill>
                  <a:srgbClr val="FEFEFE"/>
                </a:solidFill>
                <a:latin typeface="Open Sans 2"/>
                <a:ea typeface="Open Sans 2"/>
                <a:cs typeface="Open Sans 2"/>
                <a:sym typeface="Open Sans 2"/>
              </a:rPr>
              <a:t>Synergy Type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47425" y="4002432"/>
            <a:ext cx="3011711" cy="46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43">
                <a:solidFill>
                  <a:srgbClr val="FEFEFE"/>
                </a:solidFill>
                <a:latin typeface="Open Sans 2"/>
                <a:ea typeface="Open Sans 2"/>
                <a:cs typeface="Open Sans 2"/>
                <a:sym typeface="Open Sans 2"/>
              </a:rPr>
              <a:t>Target (12 Months)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25510" y="4002432"/>
            <a:ext cx="1526117" cy="46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43">
                <a:solidFill>
                  <a:srgbClr val="FEFEFE"/>
                </a:solidFill>
                <a:latin typeface="Open Sans 2"/>
                <a:ea typeface="Open Sans 2"/>
                <a:cs typeface="Open Sans 2"/>
                <a:sym typeface="Open Sans 2"/>
              </a:rPr>
              <a:t>Q1 Status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03595" y="4002432"/>
            <a:ext cx="1585127" cy="46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43">
                <a:solidFill>
                  <a:srgbClr val="FEFEFE"/>
                </a:solidFill>
                <a:latin typeface="Open Sans 2"/>
                <a:ea typeface="Open Sans 2"/>
                <a:cs typeface="Open Sans 2"/>
                <a:sym typeface="Open Sans 2"/>
              </a:rPr>
              <a:t>Q2 Status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25064" y="-71640"/>
            <a:ext cx="13037861" cy="10426706"/>
          </a:xfrm>
          <a:custGeom>
            <a:avLst/>
            <a:gdLst/>
            <a:ahLst/>
            <a:cxnLst/>
            <a:rect r="r" b="b" t="t" l="l"/>
            <a:pathLst>
              <a:path h="10426706" w="13037861">
                <a:moveTo>
                  <a:pt x="0" y="0"/>
                </a:moveTo>
                <a:lnTo>
                  <a:pt x="13037861" y="0"/>
                </a:lnTo>
                <a:lnTo>
                  <a:pt x="13037861" y="10426706"/>
                </a:lnTo>
                <a:lnTo>
                  <a:pt x="0" y="10426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89690" y="576177"/>
            <a:ext cx="1333999" cy="23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3"/>
              </a:lnSpc>
            </a:pPr>
            <a:r>
              <a:rPr lang="en-US" sz="1218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RISK ASSESSMENT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73671" y="863769"/>
            <a:ext cx="7497409" cy="735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8"/>
              </a:lnSpc>
            </a:pPr>
            <a:r>
              <a:rPr lang="en-US" sz="3807" spc="60">
                <a:solidFill>
                  <a:srgbClr val="FEFEFE"/>
                </a:solidFill>
                <a:latin typeface="Open Sans 2"/>
                <a:ea typeface="Open Sans 2"/>
                <a:cs typeface="Open Sans 2"/>
                <a:sym typeface="Open Sans 2"/>
              </a:rPr>
              <a:t>Key Risks &amp; Mitigation Strategies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77321" y="1705628"/>
            <a:ext cx="51299" cy="43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7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78007" y="3053219"/>
            <a:ext cx="1861818" cy="5025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3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Integration exceeds 6-month window</a:t>
            </a:r>
          </a:p>
          <a:p>
            <a:pPr algn="l">
              <a:lnSpc>
                <a:spcPts val="3807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Founders exit </a:t>
            </a:r>
          </a:p>
          <a:p>
            <a:pPr algn="l">
              <a:lnSpc>
                <a:spcPts val="930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despite retention </a:t>
            </a:r>
          </a:p>
          <a:p>
            <a:pPr algn="l">
              <a:lnSpc>
                <a:spcPts val="3807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clause Synergies don't </a:t>
            </a:r>
          </a:p>
          <a:p>
            <a:pPr algn="l">
              <a:lnSpc>
                <a:spcPts val="930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materialize in 12 </a:t>
            </a:r>
          </a:p>
          <a:p>
            <a:pPr algn="l">
              <a:lnSpc>
                <a:spcPts val="3807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months Key client </a:t>
            </a:r>
          </a:p>
          <a:p>
            <a:pPr algn="l">
              <a:lnSpc>
                <a:spcPts val="1099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concentration at </a:t>
            </a:r>
          </a:p>
          <a:p>
            <a:pPr algn="l">
              <a:lnSpc>
                <a:spcPts val="3807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target Overpayment / </a:t>
            </a:r>
          </a:p>
          <a:p>
            <a:pPr algn="l">
              <a:lnSpc>
                <a:spcPts val="1099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Valuation risk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78007" y="8518270"/>
            <a:ext cx="1515877" cy="74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7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Post-acquisition </a:t>
            </a:r>
          </a:p>
          <a:p>
            <a:pPr algn="l">
              <a:lnSpc>
                <a:spcPts val="1099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margin dilution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87106" y="3962924"/>
            <a:ext cx="374652" cy="26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2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87106" y="7498191"/>
            <a:ext cx="374652" cy="26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2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87106" y="6316187"/>
            <a:ext cx="423179" cy="26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2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High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87106" y="5144928"/>
            <a:ext cx="762317" cy="26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2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Medium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87106" y="8680195"/>
            <a:ext cx="762317" cy="26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2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Medium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87106" y="3081794"/>
            <a:ext cx="762317" cy="26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2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Medium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14949" y="3962924"/>
            <a:ext cx="423179" cy="26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2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High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14949" y="5144928"/>
            <a:ext cx="423179" cy="26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2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High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14949" y="7498191"/>
            <a:ext cx="423179" cy="26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2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High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14949" y="3081794"/>
            <a:ext cx="423179" cy="26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2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High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14949" y="6316187"/>
            <a:ext cx="762317" cy="26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2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Medium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14949" y="8680195"/>
            <a:ext cx="762317" cy="26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2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Medium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73671" y="1867553"/>
            <a:ext cx="10980024" cy="26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2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Addressingpotentialchallengesproactivelyiscriticalforsafeguardingtheinvestmentand ensuring a smooth transition.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42792" y="3053219"/>
            <a:ext cx="5428397" cy="651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3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Dedicated PMI team, clear milestones, external integration consultants, agile project management.</a:t>
            </a:r>
          </a:p>
          <a:p>
            <a:pPr algn="l">
              <a:lnSpc>
                <a:spcPts val="3807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Enhanced golden handcuffs, performance incentives, </a:t>
            </a:r>
          </a:p>
          <a:p>
            <a:pPr algn="l">
              <a:lnSpc>
                <a:spcPts val="930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structured handover process, strong internal succession </a:t>
            </a:r>
          </a:p>
          <a:p>
            <a:pPr algn="l">
              <a:lnSpc>
                <a:spcPts val="3807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planning. Rigorous synergy tracking, cross-functional accountability, </a:t>
            </a:r>
          </a:p>
          <a:p>
            <a:pPr algn="l">
              <a:lnSpc>
                <a:spcPts val="930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regular review meetings, contingency plans for </a:t>
            </a:r>
          </a:p>
          <a:p>
            <a:pPr algn="l">
              <a:lnSpc>
                <a:spcPts val="3807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underperforming areas. Diversification strategy post-acquisition, relationship </a:t>
            </a:r>
          </a:p>
          <a:p>
            <a:pPr algn="l">
              <a:lnSpc>
                <a:spcPts val="1099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management overlap, contract review and renegotiation, </a:t>
            </a:r>
          </a:p>
          <a:p>
            <a:pPr algn="l">
              <a:lnSpc>
                <a:spcPts val="3807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value proposition enhancement. Thorough due diligence, multiple valuation models, earn-</a:t>
            </a:r>
          </a:p>
          <a:p>
            <a:pPr algn="l">
              <a:lnSpc>
                <a:spcPts val="1099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out structures linked to performance, expert third-party </a:t>
            </a:r>
          </a:p>
          <a:p>
            <a:pPr algn="l">
              <a:lnSpc>
                <a:spcPts val="3807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review. Cost optimization initiatives, pricing strategy review, </a:t>
            </a:r>
          </a:p>
          <a:p>
            <a:pPr algn="l">
              <a:lnSpc>
                <a:spcPts val="1099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operational efficiency improvements, economies of scale </a:t>
            </a:r>
          </a:p>
          <a:p>
            <a:pPr algn="l">
              <a:lnSpc>
                <a:spcPts val="3807"/>
              </a:lnSpc>
            </a:pPr>
            <a:r>
              <a:rPr lang="en-US" sz="1522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leveraging.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78007" y="2517006"/>
            <a:ext cx="476455" cy="329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5"/>
              </a:lnSpc>
            </a:pPr>
            <a:r>
              <a:rPr lang="en-US" sz="1903" spc="30">
                <a:solidFill>
                  <a:srgbClr val="FEFEFE"/>
                </a:solidFill>
                <a:latin typeface="Open Sans 2"/>
                <a:ea typeface="Open Sans 2"/>
                <a:cs typeface="Open Sans 2"/>
                <a:sym typeface="Open Sans 2"/>
              </a:rPr>
              <a:t>Risk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87116" y="2517006"/>
            <a:ext cx="1252033" cy="329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5"/>
              </a:lnSpc>
            </a:pPr>
            <a:r>
              <a:rPr lang="en-US" sz="1903" spc="30">
                <a:solidFill>
                  <a:srgbClr val="FEFEFE"/>
                </a:solidFill>
                <a:latin typeface="Open Sans 2"/>
                <a:ea typeface="Open Sans 2"/>
                <a:cs typeface="Open Sans 2"/>
                <a:sym typeface="Open Sans 2"/>
              </a:rPr>
              <a:t>Probability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14949" y="2517006"/>
            <a:ext cx="806901" cy="329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5"/>
              </a:lnSpc>
            </a:pPr>
            <a:r>
              <a:rPr lang="en-US" sz="1903" spc="30">
                <a:solidFill>
                  <a:srgbClr val="FEFEFE"/>
                </a:solidFill>
                <a:latin typeface="Open Sans 2"/>
                <a:ea typeface="Open Sans 2"/>
                <a:cs typeface="Open Sans 2"/>
                <a:sym typeface="Open Sans 2"/>
              </a:rPr>
              <a:t>Impact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42781" y="2517006"/>
            <a:ext cx="2207404" cy="329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5"/>
              </a:lnSpc>
            </a:pPr>
            <a:r>
              <a:rPr lang="en-US" sz="1903" spc="30">
                <a:solidFill>
                  <a:srgbClr val="FEFEFE"/>
                </a:solidFill>
                <a:latin typeface="Open Sans 2"/>
                <a:ea typeface="Open Sans 2"/>
                <a:cs typeface="Open Sans 2"/>
                <a:sym typeface="Open Sans 2"/>
              </a:rPr>
              <a:t>Mitigation Strategy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0927" y="-86741"/>
            <a:ext cx="15786134" cy="10451807"/>
          </a:xfrm>
          <a:custGeom>
            <a:avLst/>
            <a:gdLst/>
            <a:ahLst/>
            <a:cxnLst/>
            <a:rect r="r" b="b" t="t" l="l"/>
            <a:pathLst>
              <a:path h="10451807" w="15786134">
                <a:moveTo>
                  <a:pt x="0" y="0"/>
                </a:moveTo>
                <a:lnTo>
                  <a:pt x="15786133" y="0"/>
                </a:lnTo>
                <a:lnTo>
                  <a:pt x="15786133" y="10451807"/>
                </a:lnTo>
                <a:lnTo>
                  <a:pt x="0" y="104518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97808" y="677086"/>
            <a:ext cx="2147379" cy="299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1475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ACQUISITION OUTLOOK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57333" y="1039869"/>
            <a:ext cx="6429282" cy="89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5"/>
              </a:lnSpc>
            </a:pPr>
            <a:r>
              <a:rPr lang="en-US" sz="4610" spc="73">
                <a:solidFill>
                  <a:srgbClr val="FEFEFE"/>
                </a:solidFill>
                <a:latin typeface="Open Sans 2"/>
                <a:ea typeface="Open Sans 2"/>
                <a:cs typeface="Open Sans 2"/>
                <a:sym typeface="Open Sans 2"/>
              </a:rPr>
              <a:t>Final Recommendation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25477" y="2067216"/>
            <a:ext cx="62112" cy="5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0"/>
              </a:lnSpc>
            </a:pPr>
            <a:r>
              <a:rPr lang="en-US" sz="1844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41797" y="3419206"/>
            <a:ext cx="58821" cy="49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5"/>
              </a:lnSpc>
            </a:pPr>
            <a:r>
              <a:rPr lang="en-US" sz="2305" spc="3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95607" y="3906812"/>
            <a:ext cx="3957693" cy="1580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1844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The target provides immediate </a:t>
            </a:r>
          </a:p>
          <a:p>
            <a:pPr algn="l">
              <a:lnSpc>
                <a:spcPts val="1716"/>
              </a:lnSpc>
            </a:pPr>
            <a:r>
              <a:rPr lang="en-US" sz="1844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access to a rapidly growing market </a:t>
            </a:r>
          </a:p>
          <a:p>
            <a:pPr algn="l">
              <a:lnSpc>
                <a:spcPts val="4226"/>
              </a:lnSpc>
            </a:pPr>
            <a:r>
              <a:rPr lang="en-US" sz="1844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segment, accelerating our strategic </a:t>
            </a:r>
          </a:p>
          <a:p>
            <a:pPr algn="l">
              <a:lnSpc>
                <a:spcPts val="1716"/>
              </a:lnSpc>
            </a:pPr>
            <a:r>
              <a:rPr lang="en-US" sz="1844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objectives.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31449" y="4375883"/>
            <a:ext cx="3807656" cy="147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9"/>
              </a:lnSpc>
            </a:pPr>
            <a:r>
              <a:rPr lang="en-US" sz="1844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Integration promises significant operational efficiencies and expanded customer offerings, enhancing competitive advantage.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08618" y="8600827"/>
            <a:ext cx="13400896" cy="71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1844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Approval is contingent upon successful negotiation of earn-out provisions, retention of key founders for a minimum of 3 years, and integration cost adherence within 10% of projected budget.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75925" y="3419206"/>
            <a:ext cx="58821" cy="49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5"/>
              </a:lnSpc>
            </a:pPr>
            <a:r>
              <a:rPr lang="en-US" sz="2305" spc="3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67290" y="3906812"/>
            <a:ext cx="3786006" cy="1580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1844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Acquisition includes key human </a:t>
            </a:r>
          </a:p>
          <a:p>
            <a:pPr algn="l">
              <a:lnSpc>
                <a:spcPts val="1716"/>
              </a:lnSpc>
            </a:pPr>
            <a:r>
              <a:rPr lang="en-US" sz="1844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capital and proprietary </a:t>
            </a:r>
          </a:p>
          <a:p>
            <a:pPr algn="l">
              <a:lnSpc>
                <a:spcPts val="4226"/>
              </a:lnSpc>
            </a:pPr>
            <a:r>
              <a:rPr lang="en-US" sz="1844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technologies that will drive future </a:t>
            </a:r>
          </a:p>
          <a:p>
            <a:pPr algn="l">
              <a:lnSpc>
                <a:spcPts val="1716"/>
              </a:lnSpc>
            </a:pPr>
            <a:r>
              <a:rPr lang="en-US" sz="1844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innovation.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57333" y="2229141"/>
            <a:ext cx="13980659" cy="3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1844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Basedon comprehensiveduediligenceandstrategicalignment, the acquisition presents a compelling opportunity for market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57333" y="2606447"/>
            <a:ext cx="3331339" cy="3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1844">
                <a:solidFill>
                  <a:srgbClr val="BFBFBF"/>
                </a:solidFill>
                <a:latin typeface="Open Sans 1"/>
                <a:ea typeface="Open Sans 1"/>
                <a:cs typeface="Open Sans 1"/>
                <a:sym typeface="Open Sans 1"/>
              </a:rPr>
              <a:t>expansion andvaluecreation.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95607" y="3514456"/>
            <a:ext cx="3129246" cy="4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7"/>
              </a:lnSpc>
            </a:pPr>
            <a:r>
              <a:rPr lang="en-US" sz="2305" spc="3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Strategic</a:t>
            </a:r>
            <a:r>
              <a:rPr lang="en-US" sz="2305" spc="36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305" spc="3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Market</a:t>
            </a:r>
            <a:r>
              <a:rPr lang="en-US" sz="2305" spc="36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305" spc="3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Entry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31449" y="3552556"/>
            <a:ext cx="2456067" cy="726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305" spc="3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Synergistic Value Proposition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67290" y="3514456"/>
            <a:ext cx="3486659" cy="4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7"/>
              </a:lnSpc>
            </a:pPr>
            <a:r>
              <a:rPr lang="en-US" sz="2305" spc="3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Strengthened</a:t>
            </a:r>
            <a:r>
              <a:rPr lang="en-US" sz="2305" spc="36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305" spc="3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Talent</a:t>
            </a:r>
            <a:r>
              <a:rPr lang="en-US" sz="2305" spc="36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305" spc="3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&amp;</a:t>
            </a:r>
            <a:r>
              <a:rPr lang="en-US" sz="2305" spc="36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305" spc="36">
                <a:solidFill>
                  <a:srgbClr val="BFBFBF"/>
                </a:solidFill>
                <a:latin typeface="Open Sans 2"/>
                <a:ea typeface="Open Sans 2"/>
                <a:cs typeface="Open Sans 2"/>
                <a:sym typeface="Open Sans 2"/>
              </a:rPr>
              <a:t>IP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57333" y="6414219"/>
            <a:ext cx="5584923" cy="160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08"/>
              </a:lnSpc>
            </a:pPr>
            <a:r>
              <a:rPr lang="en-US" sz="9220" spc="147">
                <a:solidFill>
                  <a:srgbClr val="FEFEFE"/>
                </a:solidFill>
                <a:latin typeface="Open Sans 2"/>
                <a:ea typeface="Open Sans 2"/>
                <a:cs typeface="Open Sans 2"/>
                <a:sym typeface="Open Sans 2"/>
              </a:rPr>
              <a:t>ACQUIRE </a:t>
            </a:r>
            <a:r>
              <a:rPr lang="en-US" sz="9220" spc="147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P/E Method</dc:description>
  <dc:identifier>DAHCsb6KkJ4</dc:identifier>
  <dcterms:modified xsi:type="dcterms:W3CDTF">2011-08-01T06:04:30Z</dcterms:modified>
  <cp:revision>1</cp:revision>
  <dc:title>Presentation - P/E Method</dc:title>
</cp:coreProperties>
</file>
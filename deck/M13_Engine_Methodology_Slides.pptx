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164592"/>
            <a:ext cx="475488" cy="320040"/>
          </a:xfrm>
          <a:prstGeom prst="rect">
            <a:avLst>
              <a:gd name="adj" fmla="val 14286"/>
            </a:avLst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6459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" y="1645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65836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RISKFERA measures earnings quality &amp; financial stability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024128"/>
            <a:ext cx="8631936" cy="34747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24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16352" y="10241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Column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62272" y="1024128"/>
            <a:ext cx="731520" cy="34747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93792" y="1024128"/>
            <a:ext cx="3511296" cy="34747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Detects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1371600"/>
            <a:ext cx="8631936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98848" y="1463040"/>
            <a:ext cx="512064" cy="274320"/>
          </a:xfrm>
          <a:prstGeom prst="rect">
            <a:avLst>
              <a:gd name="adj" fmla="val 16667"/>
            </a:avLst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" y="1371600"/>
            <a:ext cx="2450592" cy="45720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Profit Variance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16352" y="13716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qtr_profit_var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98848" y="146304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93792" y="1371600"/>
            <a:ext cx="3639312" cy="45720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earnings unpredictability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1847088"/>
            <a:ext cx="8631936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98848" y="1938528"/>
            <a:ext cx="512064" cy="274320"/>
          </a:xfrm>
          <a:prstGeom prst="rect">
            <a:avLst>
              <a:gd name="adj" fmla="val 16667"/>
            </a:avLst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1847088"/>
            <a:ext cx="2450592" cy="45720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Profit Variance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16352" y="1847088"/>
            <a:ext cx="1609344" cy="45720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profit_var_3yrs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98848" y="193852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93792" y="1847088"/>
            <a:ext cx="3639312" cy="45720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profit direction &amp; decline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" y="2322576"/>
            <a:ext cx="8631936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8848" y="2414016"/>
            <a:ext cx="512064" cy="274320"/>
          </a:xfrm>
          <a:prstGeom prst="rect">
            <a:avLst>
              <a:gd name="adj" fmla="val 16667"/>
            </a:avLst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" y="2322576"/>
            <a:ext cx="2450592" cy="45720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EBITDA Variance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16352" y="2322576"/>
            <a:ext cx="1609344" cy="45720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ebidt_var_3yrs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98848" y="2414016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93792" y="2322576"/>
            <a:ext cx="3639312" cy="45720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operating health over time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032" y="2798064"/>
            <a:ext cx="8631936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98848" y="2889504"/>
            <a:ext cx="512064" cy="274320"/>
          </a:xfrm>
          <a:prstGeom prst="rect">
            <a:avLst>
              <a:gd name="adj" fmla="val 16667"/>
            </a:avLst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" y="2798064"/>
            <a:ext cx="2450592" cy="45720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Profit Margin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816352" y="2798064"/>
            <a:ext cx="1609344" cy="45720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98848" y="2889504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93792" y="2798064"/>
            <a:ext cx="3639312" cy="45720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Thin/negative margins = financial stress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56032" y="3273552"/>
            <a:ext cx="8631936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98848" y="3364992"/>
            <a:ext cx="512064" cy="274320"/>
          </a:xfrm>
          <a:prstGeom prst="rect">
            <a:avLst>
              <a:gd name="adj" fmla="val 16667"/>
            </a:avLst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0896" y="3273552"/>
            <a:ext cx="2450592" cy="45720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Proxy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816352" y="3273552"/>
            <a:ext cx="1609344" cy="45720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div_yld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498848" y="336499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93792" y="3273552"/>
            <a:ext cx="3639312" cy="45720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Unusually high yield = value trap signal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56032" y="3749040"/>
            <a:ext cx="8631936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98848" y="3840480"/>
            <a:ext cx="512064" cy="274320"/>
          </a:xfrm>
          <a:prstGeom prst="rect">
            <a:avLst>
              <a:gd name="adj" fmla="val 16667"/>
            </a:avLst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0896" y="3749040"/>
            <a:ext cx="2450592" cy="45720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3-Year Variance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816352" y="3749040"/>
            <a:ext cx="1609344" cy="45720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eps_var_3yrs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498848" y="38404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193792" y="3749040"/>
            <a:ext cx="3639312" cy="45720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Per-share value erosion over 3 years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56032" y="43251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SELF-TEST VERIFIED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56032" y="4553712"/>
            <a:ext cx="2743200" cy="402336"/>
          </a:xfrm>
          <a:prstGeom prst="rect">
            <a:avLst/>
          </a:prstGeom>
          <a:solidFill>
            <a:srgbClr val="112240"/>
          </a:solidFill>
          <a:ln w="12700">
            <a:solidFill>
              <a:srgbClr val="00CC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56032" y="4553712"/>
            <a:ext cx="109728" cy="402336"/>
          </a:xfrm>
          <a:prstGeom prst="rect">
            <a:avLst/>
          </a:prstGeom>
          <a:solidFill>
            <a:srgbClr val="00CC88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455371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084832" y="455371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/ 100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3136392" y="4553712"/>
            <a:ext cx="2743200" cy="402336"/>
          </a:xfrm>
          <a:prstGeom prst="rect">
            <a:avLst/>
          </a:prstGeom>
          <a:solidFill>
            <a:srgbClr val="112240"/>
          </a:solidFill>
          <a:ln w="12700">
            <a:solidFill>
              <a:srgbClr val="F4B9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136392" y="4553712"/>
            <a:ext cx="109728" cy="402336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19272" y="455371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965192" y="455371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/ 100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016752" y="4553712"/>
            <a:ext cx="2743200" cy="402336"/>
          </a:xfrm>
          <a:prstGeom prst="rect">
            <a:avLst/>
          </a:prstGeom>
          <a:solidFill>
            <a:srgbClr val="112240"/>
          </a:solidFill>
          <a:ln w="12700">
            <a:solidFill>
              <a:srgbClr val="FF4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016752" y="4553712"/>
            <a:ext cx="109728" cy="402336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99632" y="455371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845552" y="455371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/ 100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256032" y="987552"/>
            <a:ext cx="36576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C88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164592"/>
            <a:ext cx="475488" cy="320040"/>
          </a:xfrm>
          <a:prstGeom prst="rect">
            <a:avLst>
              <a:gd name="adj" fmla="val 14286"/>
            </a:avLst>
          </a:prstGeom>
          <a:solidFill>
            <a:srgbClr val="00CC88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6459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" y="16459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Synergy Engine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6583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RISKFERA measures strategic fit with InnovaTech's transformation goals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024128"/>
            <a:ext cx="5303520" cy="347472"/>
          </a:xfrm>
          <a:prstGeom prst="rect">
            <a:avLst/>
          </a:prstGeom>
          <a:solidFill>
            <a:srgbClr val="00CC88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24128"/>
            <a:ext cx="1572768" cy="34747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65376" y="1024128"/>
            <a:ext cx="1243584" cy="34747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45536" y="1024128"/>
            <a:ext cx="493776" cy="34747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75888" y="1024128"/>
            <a:ext cx="1883664" cy="34747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1371600"/>
            <a:ext cx="530352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1371600"/>
            <a:ext cx="1517904" cy="45720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ROCE Alignment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65376" y="1371600"/>
            <a:ext cx="1207008" cy="45720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63824" y="1463040"/>
            <a:ext cx="438912" cy="274320"/>
          </a:xfrm>
          <a:prstGeom prst="rect">
            <a:avLst>
              <a:gd name="adj" fmla="val 16667"/>
            </a:avLst>
          </a:prstGeom>
          <a:solidFill>
            <a:srgbClr val="00CC88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63824" y="14630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75888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1847088"/>
            <a:ext cx="53035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1847088"/>
            <a:ext cx="1517904" cy="45720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OPM Alignment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865376" y="1847088"/>
            <a:ext cx="1207008" cy="45720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63824" y="1938528"/>
            <a:ext cx="438912" cy="274320"/>
          </a:xfrm>
          <a:prstGeom prst="rect">
            <a:avLst>
              <a:gd name="adj" fmla="val 16667"/>
            </a:avLst>
          </a:prstGeom>
          <a:solidFill>
            <a:srgbClr val="00CC88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63824" y="193852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75888" y="1847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2322576"/>
            <a:ext cx="530352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" y="2322576"/>
            <a:ext cx="1517904" cy="45720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Sales Growth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865376" y="2322576"/>
            <a:ext cx="1207008" cy="45720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sales_var_3yrs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163824" y="2414016"/>
            <a:ext cx="438912" cy="274320"/>
          </a:xfrm>
          <a:prstGeom prst="rect">
            <a:avLst>
              <a:gd name="adj" fmla="val 16667"/>
            </a:avLst>
          </a:prstGeom>
          <a:solidFill>
            <a:srgbClr val="00CC88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63824" y="241401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75888" y="23225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" y="2798064"/>
            <a:ext cx="53035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" y="2798064"/>
            <a:ext cx="1517904" cy="45720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Strategic Fit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865376" y="2798064"/>
            <a:ext cx="1207008" cy="45720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63824" y="2889504"/>
            <a:ext cx="438912" cy="274320"/>
          </a:xfrm>
          <a:prstGeom prst="rect">
            <a:avLst>
              <a:gd name="adj" fmla="val 16667"/>
            </a:avLst>
          </a:prstGeom>
          <a:solidFill>
            <a:srgbClr val="00CC88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63824" y="288950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75888" y="27980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6032" y="3273552"/>
            <a:ext cx="530352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0896" y="3273552"/>
            <a:ext cx="1517904" cy="45720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Momentum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865376" y="3273552"/>
            <a:ext cx="1207008" cy="45720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eps_var_3yrs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163824" y="3364992"/>
            <a:ext cx="438912" cy="274320"/>
          </a:xfrm>
          <a:prstGeom prst="rect">
            <a:avLst>
              <a:gd name="adj" fmla="val 16667"/>
            </a:avLst>
          </a:prstGeom>
          <a:solidFill>
            <a:srgbClr val="00CC88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63824" y="336499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75888" y="32735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833872" y="1024128"/>
            <a:ext cx="3145536" cy="34747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FIT MAP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833872" y="1426464"/>
            <a:ext cx="2560320" cy="2743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33872" y="1426464"/>
            <a:ext cx="2560320" cy="274320"/>
          </a:xfrm>
          <a:prstGeom prst="rect">
            <a:avLst/>
          </a:prstGeom>
          <a:solidFill>
            <a:srgbClr val="00CC88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33872" y="13716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- Software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302752" y="137160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833872" y="1828800"/>
            <a:ext cx="2560320" cy="2743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33872" y="1828800"/>
            <a:ext cx="2560320" cy="274320"/>
          </a:xfrm>
          <a:prstGeom prst="rect">
            <a:avLst/>
          </a:prstGeom>
          <a:solidFill>
            <a:srgbClr val="00CC88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33872" y="1773936"/>
            <a:ext cx="1828800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- Services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302752" y="1773936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833872" y="2231136"/>
            <a:ext cx="2560320" cy="2743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833872" y="2231136"/>
            <a:ext cx="2048256" cy="274320"/>
          </a:xfrm>
          <a:prstGeom prst="rect">
            <a:avLst/>
          </a:prstGeom>
          <a:solidFill>
            <a:srgbClr val="88DD44"/>
          </a:solidFill>
          <a:ln w="12700">
            <a:solidFill>
              <a:srgbClr val="88DD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33872" y="2176272"/>
            <a:ext cx="1828800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302752" y="217627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8D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833872" y="2633472"/>
            <a:ext cx="2560320" cy="2743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33872" y="2633472"/>
            <a:ext cx="1536192" cy="27432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33872" y="2578608"/>
            <a:ext cx="1828800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- Services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302752" y="257860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833872" y="3035808"/>
            <a:ext cx="2560320" cy="2743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33872" y="3035808"/>
            <a:ext cx="1152144" cy="274320"/>
          </a:xfrm>
          <a:prstGeom prst="rect">
            <a:avLst/>
          </a:prstGeom>
          <a:solidFill>
            <a:srgbClr val="FF9944"/>
          </a:solidFill>
          <a:ln w="12700">
            <a:solidFill>
              <a:srgbClr val="FF99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33872" y="2980944"/>
            <a:ext cx="1828800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- Equipments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8302752" y="2980944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9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833872" y="3438144"/>
            <a:ext cx="2560320" cy="2743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33872" y="3438144"/>
            <a:ext cx="1024128" cy="274320"/>
          </a:xfrm>
          <a:prstGeom prst="rect">
            <a:avLst/>
          </a:prstGeom>
          <a:solidFill>
            <a:srgbClr val="FF9944"/>
          </a:solidFill>
          <a:ln w="12700">
            <a:solidFill>
              <a:srgbClr val="FF994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33872" y="33832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8302752" y="338328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9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833872" y="3840480"/>
            <a:ext cx="2560320" cy="2743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833872" y="3840480"/>
            <a:ext cx="640080" cy="27432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33872" y="3785616"/>
            <a:ext cx="1828800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8302752" y="3785616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56032" y="4315968"/>
            <a:ext cx="8631936" cy="621792"/>
          </a:xfrm>
          <a:prstGeom prst="rect">
            <a:avLst/>
          </a:prstGeom>
          <a:solidFill>
            <a:srgbClr val="112240"/>
          </a:solidFill>
          <a:ln w="12700">
            <a:solidFill>
              <a:srgbClr val="00CC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347472" y="4315968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 =  (ROCE × 0.25)  +  (OPM × 0.25)  +  (Growth × 0.20)  +  (Sector × 0.20)  +  (EPS × 0.10)   →   0 – 100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164592"/>
            <a:ext cx="475488" cy="320040"/>
          </a:xfrm>
          <a:prstGeom prst="rect">
            <a:avLst>
              <a:gd name="adj" fmla="val 14286"/>
            </a:avLst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6459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" y="1645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Engine  &amp;  Final Rankings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7472" y="6583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InnovaTech actually close this deal within ₹180 Cr and 6 months?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024128"/>
            <a:ext cx="4937760" cy="347472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24128"/>
            <a:ext cx="1481328" cy="34747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73936" y="1024128"/>
            <a:ext cx="841248" cy="34747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1024128"/>
            <a:ext cx="438912" cy="34747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27248" y="1024128"/>
            <a:ext cx="2066544" cy="34747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1371600"/>
            <a:ext cx="493776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1371600"/>
            <a:ext cx="1426464" cy="45720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Check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73936" y="1371600"/>
            <a:ext cx="804672" cy="45720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mar_cap_rscr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88336" y="1472184"/>
            <a:ext cx="347472" cy="256032"/>
          </a:xfrm>
          <a:prstGeom prst="rect">
            <a:avLst>
              <a:gd name="adj" fmla="val 17857"/>
            </a:avLst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88336" y="147218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27248" y="13716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= MCap × 1.25   ≤ ₹180 Cr → full marks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1847088"/>
            <a:ext cx="493776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1847088"/>
            <a:ext cx="1426464" cy="45720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Attractiveness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73936" y="1847088"/>
            <a:ext cx="804672" cy="45720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88336" y="1947672"/>
            <a:ext cx="347472" cy="256032"/>
          </a:xfrm>
          <a:prstGeom prst="rect">
            <a:avLst>
              <a:gd name="adj" fmla="val 17857"/>
            </a:avLst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88336" y="194767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27248" y="1847088"/>
            <a:ext cx="2029968" cy="45720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&lt; 24.5x (InnovaTech's own) = EPS accretive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2322576"/>
            <a:ext cx="493776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" y="2322576"/>
            <a:ext cx="1426464" cy="45720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Dilution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73936" y="2322576"/>
            <a:ext cx="804672" cy="45720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mar_cap_rscr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88336" y="2423160"/>
            <a:ext cx="347472" cy="256032"/>
          </a:xfrm>
          <a:prstGeom prst="rect">
            <a:avLst>
              <a:gd name="adj" fmla="val 17857"/>
            </a:avLst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88336" y="24231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27248" y="2322576"/>
            <a:ext cx="2029968" cy="45720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equity swap → dilution &lt; 3% of InnovaTech MCap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" y="2798064"/>
            <a:ext cx="493776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" y="2798064"/>
            <a:ext cx="1426464" cy="45720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Complexity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73936" y="2798064"/>
            <a:ext cx="804672" cy="45720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3yrs_return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688336" y="2898648"/>
            <a:ext cx="347472" cy="256032"/>
          </a:xfrm>
          <a:prstGeom prst="rect">
            <a:avLst>
              <a:gd name="adj" fmla="val 17857"/>
            </a:avLst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88336" y="28986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127248" y="2798064"/>
            <a:ext cx="2029968" cy="457200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3yr return &lt; 30% = stable, manageable integration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" y="3364992"/>
            <a:ext cx="493776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F4B9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47472" y="340156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ATTRACTIVENESS SCORE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7472" y="360273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40% × (100 − Risk)  +  35% × Synergy  +  25% × Feasibility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56032" y="4114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CONSTRAINTS: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627632" y="4114800"/>
            <a:ext cx="1664208" cy="256032"/>
          </a:xfrm>
          <a:prstGeom prst="rect">
            <a:avLst>
              <a:gd name="adj" fmla="val 17857"/>
            </a:avLst>
          </a:prstGeom>
          <a:solidFill>
            <a:srgbClr val="1A3A5C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27632" y="411480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₹180 Cr deal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438144" y="4114800"/>
            <a:ext cx="1664208" cy="256032"/>
          </a:xfrm>
          <a:prstGeom prst="rect">
            <a:avLst>
              <a:gd name="adj" fmla="val 17857"/>
            </a:avLst>
          </a:prstGeom>
          <a:solidFill>
            <a:srgbClr val="1A3A5C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38144" y="411480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40% non-cash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48656" y="4114800"/>
            <a:ext cx="1664208" cy="256032"/>
          </a:xfrm>
          <a:prstGeom prst="rect">
            <a:avLst>
              <a:gd name="adj" fmla="val 17857"/>
            </a:avLst>
          </a:prstGeom>
          <a:solidFill>
            <a:srgbClr val="1A3A5C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48656" y="411480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6 mo integration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059168" y="4114800"/>
            <a:ext cx="1664208" cy="256032"/>
          </a:xfrm>
          <a:prstGeom prst="rect">
            <a:avLst>
              <a:gd name="adj" fmla="val 17857"/>
            </a:avLst>
          </a:prstGeom>
          <a:solidFill>
            <a:srgbClr val="1A3A5C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59168" y="411480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&lt; 24.5x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394960" y="9692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RANKED TARGETS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394960" y="124358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(Scores from model self-test — replace with real output)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394960" y="1463040"/>
            <a:ext cx="3566160" cy="310896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94960" y="1463040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687568" y="146304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059168" y="1463040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Risk↓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516368" y="1463040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Syn↑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973568" y="1463040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Feas↑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430768" y="1463040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Score↑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394960" y="1773936"/>
            <a:ext cx="3566160" cy="38404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94960" y="1837944"/>
            <a:ext cx="256032" cy="256032"/>
          </a:xfrm>
          <a:prstGeom prst="rect">
            <a:avLst>
              <a:gd name="adj" fmla="val 14286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94960" y="1837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687568" y="1773936"/>
            <a:ext cx="1335024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final_score.py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059168" y="1773936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516368" y="1773936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973568" y="1773936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430768" y="177393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394960" y="2176272"/>
            <a:ext cx="35661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94960" y="2240280"/>
            <a:ext cx="256032" cy="256032"/>
          </a:xfrm>
          <a:prstGeom prst="rect">
            <a:avLst>
              <a:gd name="adj" fmla="val 14286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394960" y="2240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687568" y="2176272"/>
            <a:ext cx="1335024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populate real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059168" y="2176272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516368" y="2176272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7973568" y="2176272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8430768" y="217627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394960" y="2578608"/>
            <a:ext cx="3566160" cy="38404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394960" y="2642616"/>
            <a:ext cx="256032" cy="256032"/>
          </a:xfrm>
          <a:prstGeom prst="rect">
            <a:avLst>
              <a:gd name="adj" fmla="val 14286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94960" y="2642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687568" y="2578608"/>
            <a:ext cx="1335024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names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7059168" y="257860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7516368" y="257860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7973568" y="257860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8430768" y="257860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5394960" y="2980944"/>
            <a:ext cx="35661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394960" y="3044952"/>
            <a:ext cx="256032" cy="256032"/>
          </a:xfrm>
          <a:prstGeom prst="rect">
            <a:avLst>
              <a:gd name="adj" fmla="val 14286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394960" y="3044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5687568" y="2980944"/>
            <a:ext cx="1335024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scores here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7059168" y="2980944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7516368" y="2980944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7973568" y="2980944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8430768" y="298094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5394960" y="3383280"/>
            <a:ext cx="3566160" cy="38404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394960" y="3447288"/>
            <a:ext cx="256032" cy="256032"/>
          </a:xfrm>
          <a:prstGeom prst="rect">
            <a:avLst>
              <a:gd name="adj" fmla="val 14286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394960" y="3447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5687568" y="3383280"/>
            <a:ext cx="1335024" cy="384048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ranked CSV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7059168" y="338328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7516368" y="338328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7973568" y="338328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8430768" y="338328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5394960" y="3803904"/>
            <a:ext cx="3566160" cy="566928"/>
          </a:xfrm>
          <a:prstGeom prst="rect">
            <a:avLst/>
          </a:prstGeom>
          <a:solidFill>
            <a:srgbClr val="0A2A1A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486400" y="3803904"/>
            <a:ext cx="3383280" cy="56692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C88"/>
                </a:solidFill>
              </a:rPr>
              <a:t>⚡ </a:t>
            </a:r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After running </a:t>
            </a:r>
            <a:pPr indent="0" marL="0">
              <a:buNone/>
            </a:pPr>
            <a:r>
              <a:rPr lang="en-US" sz="95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scoring/final_score.py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replace placeholder rows with Top 5 from 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output/top5_targets.csv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RISKFERA AI — Engine Methodology</dc:title>
  <dc:subject>PptxGenJS Presentation</dc:subject>
  <dc:creator>PptxGenJS</dc:creator>
  <cp:lastModifiedBy>PptxGenJS</cp:lastModifiedBy>
  <cp:revision>1</cp:revision>
  <dcterms:created xsi:type="dcterms:W3CDTF">2026-02-27T20:59:17Z</dcterms:created>
  <dcterms:modified xsi:type="dcterms:W3CDTF">2026-02-27T20:59:17Z</dcterms:modified>
</cp:coreProperties>
</file>
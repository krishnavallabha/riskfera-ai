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Open Sans 1" charset="1" panose="020B0606030504020204"/>
      <p:regular r:id="rId12"/>
    </p:embeddedFont>
    <p:embeddedFont>
      <p:font typeface="Open Sans 2" charset="1" panose="00000000000000000000"/>
      <p:regular r:id="rId13"/>
    </p:embeddedFont>
    <p:embeddedFont>
      <p:font typeface="Open Sans 2 Bold" charset="1" panose="00000000000000000000"/>
      <p:regular r:id="rId14"/>
    </p:embeddedFont>
    <p:embeddedFont>
      <p:font typeface="Open Sans 2 Italics" charset="1" panose="00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045625"/>
            <a:ext cx="11594954" cy="463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5"/>
              </a:lnSpc>
            </a:pPr>
            <a:r>
              <a:rPr lang="en-US" sz="5391" spc="80">
                <a:solidFill>
                  <a:srgbClr val="FEFEFE"/>
                </a:solidFill>
                <a:latin typeface="Open Sans 1"/>
                <a:ea typeface="Open Sans 1"/>
                <a:cs typeface="Open Sans 1"/>
                <a:sym typeface="Open Sans 1"/>
              </a:rPr>
              <a:t>Target Deep Dive: Logiciel Solutions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79326" y="5593279"/>
            <a:ext cx="72569" cy="596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1"/>
              </a:lnSpc>
            </a:pP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72613" y="8325222"/>
            <a:ext cx="15718781" cy="422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Wepresent ourtop acquisitiontarget, </a:t>
            </a:r>
            <a:r>
              <a:rPr lang="en-US" b="true" sz="2156">
                <a:solidFill>
                  <a:srgbClr val="BFBFB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Logiciel Solutions</a:t>
            </a: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,achievingan unparalleledfinal score of </a:t>
            </a:r>
            <a:r>
              <a:rPr lang="en-US" b="true" sz="2156">
                <a:solidFill>
                  <a:srgbClr val="BFBFB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95.41 / 100</a:t>
            </a: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 across 400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72613" y="8842341"/>
            <a:ext cx="16010151" cy="415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rigorously evaluated companies. This selection is objectively defensible and strategically aligned with our growth objectives.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72613" y="1944824"/>
            <a:ext cx="3198676" cy="3198676"/>
            <a:chOff x="0" y="0"/>
            <a:chExt cx="927100" cy="927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27100" cy="927100"/>
            </a:xfrm>
            <a:custGeom>
              <a:avLst/>
              <a:gdLst/>
              <a:ahLst/>
              <a:cxnLst/>
              <a:rect r="r" b="b" t="t" l="l"/>
              <a:pathLst>
                <a:path h="927100" w="927100">
                  <a:moveTo>
                    <a:pt x="28575" y="0"/>
                  </a:moveTo>
                  <a:cubicBezTo>
                    <a:pt x="20701" y="0"/>
                    <a:pt x="13970" y="2794"/>
                    <a:pt x="8382" y="8382"/>
                  </a:cubicBezTo>
                  <a:cubicBezTo>
                    <a:pt x="2794" y="13970"/>
                    <a:pt x="0" y="20701"/>
                    <a:pt x="0" y="28575"/>
                  </a:cubicBezTo>
                  <a:lnTo>
                    <a:pt x="0" y="898525"/>
                  </a:lnTo>
                  <a:cubicBezTo>
                    <a:pt x="0" y="906399"/>
                    <a:pt x="2794" y="913130"/>
                    <a:pt x="8382" y="918718"/>
                  </a:cubicBezTo>
                  <a:cubicBezTo>
                    <a:pt x="13970" y="924306"/>
                    <a:pt x="20701" y="927100"/>
                    <a:pt x="28575" y="927100"/>
                  </a:cubicBezTo>
                  <a:lnTo>
                    <a:pt x="898525" y="927100"/>
                  </a:lnTo>
                  <a:cubicBezTo>
                    <a:pt x="906399" y="927100"/>
                    <a:pt x="913130" y="924306"/>
                    <a:pt x="918718" y="918718"/>
                  </a:cubicBezTo>
                  <a:cubicBezTo>
                    <a:pt x="924306" y="913130"/>
                    <a:pt x="927100" y="906399"/>
                    <a:pt x="927100" y="898525"/>
                  </a:cubicBezTo>
                  <a:lnTo>
                    <a:pt x="927100" y="28575"/>
                  </a:lnTo>
                  <a:cubicBezTo>
                    <a:pt x="927100" y="20701"/>
                    <a:pt x="924306" y="13970"/>
                    <a:pt x="918718" y="8382"/>
                  </a:cubicBezTo>
                  <a:cubicBezTo>
                    <a:pt x="913130" y="2794"/>
                    <a:pt x="906399" y="0"/>
                    <a:pt x="898525" y="0"/>
                  </a:cubicBezTo>
                  <a:close/>
                </a:path>
              </a:pathLst>
            </a:custGeom>
            <a:blipFill>
              <a:blip r:embed="rId2"/>
              <a:stretch>
                <a:fillRect l="-16" t="-20" r="-17" b="-2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031087" y="2036269"/>
            <a:ext cx="3107231" cy="3107231"/>
            <a:chOff x="0" y="0"/>
            <a:chExt cx="927100" cy="927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27100" cy="927100"/>
            </a:xfrm>
            <a:custGeom>
              <a:avLst/>
              <a:gdLst/>
              <a:ahLst/>
              <a:cxnLst/>
              <a:rect r="r" b="b" t="t" l="l"/>
              <a:pathLst>
                <a:path h="927100" w="927100">
                  <a:moveTo>
                    <a:pt x="28575" y="0"/>
                  </a:moveTo>
                  <a:cubicBezTo>
                    <a:pt x="20701" y="0"/>
                    <a:pt x="13970" y="2794"/>
                    <a:pt x="8382" y="8382"/>
                  </a:cubicBezTo>
                  <a:cubicBezTo>
                    <a:pt x="2794" y="13970"/>
                    <a:pt x="0" y="20701"/>
                    <a:pt x="0" y="28575"/>
                  </a:cubicBezTo>
                  <a:lnTo>
                    <a:pt x="0" y="898525"/>
                  </a:lnTo>
                  <a:cubicBezTo>
                    <a:pt x="0" y="906399"/>
                    <a:pt x="2794" y="913130"/>
                    <a:pt x="8382" y="918718"/>
                  </a:cubicBezTo>
                  <a:cubicBezTo>
                    <a:pt x="13970" y="924306"/>
                    <a:pt x="20701" y="927100"/>
                    <a:pt x="28575" y="927100"/>
                  </a:cubicBezTo>
                  <a:lnTo>
                    <a:pt x="898525" y="927100"/>
                  </a:lnTo>
                  <a:cubicBezTo>
                    <a:pt x="906399" y="927100"/>
                    <a:pt x="913130" y="924306"/>
                    <a:pt x="918718" y="918718"/>
                  </a:cubicBezTo>
                  <a:cubicBezTo>
                    <a:pt x="924306" y="913130"/>
                    <a:pt x="927100" y="906399"/>
                    <a:pt x="927100" y="898525"/>
                  </a:cubicBezTo>
                  <a:lnTo>
                    <a:pt x="927100" y="28575"/>
                  </a:lnTo>
                  <a:cubicBezTo>
                    <a:pt x="927100" y="20701"/>
                    <a:pt x="924306" y="13970"/>
                    <a:pt x="918718" y="8382"/>
                  </a:cubicBezTo>
                  <a:cubicBezTo>
                    <a:pt x="913130" y="2794"/>
                    <a:pt x="906399" y="0"/>
                    <a:pt x="898525" y="0"/>
                  </a:cubicBezTo>
                  <a:close/>
                </a:path>
              </a:pathLst>
            </a:custGeom>
            <a:blipFill>
              <a:blip r:embed="rId3"/>
              <a:stretch>
                <a:fillRect l="-16" t="-20" r="-17" b="-2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28303" y="1942209"/>
            <a:ext cx="3295352" cy="3295352"/>
            <a:chOff x="0" y="0"/>
            <a:chExt cx="927100" cy="927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27100" cy="927100"/>
            </a:xfrm>
            <a:custGeom>
              <a:avLst/>
              <a:gdLst/>
              <a:ahLst/>
              <a:cxnLst/>
              <a:rect r="r" b="b" t="t" l="l"/>
              <a:pathLst>
                <a:path h="927100" w="927100">
                  <a:moveTo>
                    <a:pt x="28575" y="0"/>
                  </a:moveTo>
                  <a:cubicBezTo>
                    <a:pt x="20701" y="0"/>
                    <a:pt x="13970" y="2794"/>
                    <a:pt x="8382" y="8382"/>
                  </a:cubicBezTo>
                  <a:cubicBezTo>
                    <a:pt x="2794" y="13970"/>
                    <a:pt x="0" y="20701"/>
                    <a:pt x="0" y="28575"/>
                  </a:cubicBezTo>
                  <a:lnTo>
                    <a:pt x="0" y="898525"/>
                  </a:lnTo>
                  <a:cubicBezTo>
                    <a:pt x="0" y="906399"/>
                    <a:pt x="2794" y="913130"/>
                    <a:pt x="8382" y="918718"/>
                  </a:cubicBezTo>
                  <a:cubicBezTo>
                    <a:pt x="13970" y="924306"/>
                    <a:pt x="20701" y="927100"/>
                    <a:pt x="28575" y="927100"/>
                  </a:cubicBezTo>
                  <a:lnTo>
                    <a:pt x="898525" y="927100"/>
                  </a:lnTo>
                  <a:cubicBezTo>
                    <a:pt x="906399" y="927100"/>
                    <a:pt x="913130" y="924306"/>
                    <a:pt x="918718" y="918718"/>
                  </a:cubicBezTo>
                  <a:cubicBezTo>
                    <a:pt x="924306" y="913130"/>
                    <a:pt x="927100" y="906399"/>
                    <a:pt x="927100" y="898525"/>
                  </a:cubicBezTo>
                  <a:lnTo>
                    <a:pt x="927100" y="28575"/>
                  </a:lnTo>
                  <a:cubicBezTo>
                    <a:pt x="927100" y="20701"/>
                    <a:pt x="924306" y="13970"/>
                    <a:pt x="918718" y="8382"/>
                  </a:cubicBezTo>
                  <a:cubicBezTo>
                    <a:pt x="913130" y="2794"/>
                    <a:pt x="906399" y="0"/>
                    <a:pt x="898525" y="0"/>
                  </a:cubicBezTo>
                  <a:close/>
                </a:path>
              </a:pathLst>
            </a:custGeom>
            <a:blipFill>
              <a:blip r:embed="rId4"/>
              <a:stretch>
                <a:fillRect l="-16" t="-20" r="-17" b="-2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041901" y="2143123"/>
            <a:ext cx="2940864" cy="2940864"/>
            <a:chOff x="0" y="0"/>
            <a:chExt cx="927100" cy="927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27100" cy="927100"/>
            </a:xfrm>
            <a:custGeom>
              <a:avLst/>
              <a:gdLst/>
              <a:ahLst/>
              <a:cxnLst/>
              <a:rect r="r" b="b" t="t" l="l"/>
              <a:pathLst>
                <a:path h="927100" w="927100">
                  <a:moveTo>
                    <a:pt x="28575" y="0"/>
                  </a:moveTo>
                  <a:cubicBezTo>
                    <a:pt x="20701" y="0"/>
                    <a:pt x="13970" y="2794"/>
                    <a:pt x="8382" y="8382"/>
                  </a:cubicBezTo>
                  <a:cubicBezTo>
                    <a:pt x="2794" y="13970"/>
                    <a:pt x="0" y="20701"/>
                    <a:pt x="0" y="28575"/>
                  </a:cubicBezTo>
                  <a:lnTo>
                    <a:pt x="0" y="898525"/>
                  </a:lnTo>
                  <a:cubicBezTo>
                    <a:pt x="0" y="906399"/>
                    <a:pt x="2794" y="913130"/>
                    <a:pt x="8382" y="918718"/>
                  </a:cubicBezTo>
                  <a:cubicBezTo>
                    <a:pt x="13970" y="924306"/>
                    <a:pt x="20701" y="927100"/>
                    <a:pt x="28575" y="927100"/>
                  </a:cubicBezTo>
                  <a:lnTo>
                    <a:pt x="898525" y="927100"/>
                  </a:lnTo>
                  <a:cubicBezTo>
                    <a:pt x="906399" y="927100"/>
                    <a:pt x="913130" y="924306"/>
                    <a:pt x="918718" y="918718"/>
                  </a:cubicBezTo>
                  <a:cubicBezTo>
                    <a:pt x="924306" y="913130"/>
                    <a:pt x="927100" y="906399"/>
                    <a:pt x="927100" y="898525"/>
                  </a:cubicBezTo>
                  <a:lnTo>
                    <a:pt x="927100" y="28575"/>
                  </a:lnTo>
                  <a:cubicBezTo>
                    <a:pt x="927100" y="20701"/>
                    <a:pt x="924306" y="13970"/>
                    <a:pt x="918718" y="8382"/>
                  </a:cubicBezTo>
                  <a:cubicBezTo>
                    <a:pt x="913130" y="2794"/>
                    <a:pt x="906399" y="0"/>
                    <a:pt x="898525" y="0"/>
                  </a:cubicBezTo>
                  <a:close/>
                </a:path>
              </a:pathLst>
            </a:custGeom>
            <a:blipFill>
              <a:blip r:embed="rId5"/>
              <a:stretch>
                <a:fillRect l="-16" t="-20" r="-17" b="-2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72613" y="1239441"/>
            <a:ext cx="11902972" cy="720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1"/>
              </a:lnSpc>
            </a:pPr>
            <a:r>
              <a:rPr lang="en-US" sz="5391" spc="80">
                <a:solidFill>
                  <a:srgbClr val="FEFEFE"/>
                </a:solidFill>
                <a:latin typeface="Open Sans 1"/>
                <a:ea typeface="Open Sans 1"/>
                <a:cs typeface="Open Sans 1"/>
                <a:sym typeface="Open Sans 1"/>
              </a:rPr>
              <a:t>Target Overview — Logiciel Solutions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480559" y="2164575"/>
            <a:ext cx="68795" cy="755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9"/>
              </a:lnSpc>
            </a:pPr>
            <a:r>
              <a:rPr lang="en-US" sz="2695" spc="40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54870" y="2891471"/>
            <a:ext cx="4281152" cy="5716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0"/>
              </a:lnSpc>
            </a:pPr>
            <a:r>
              <a:rPr lang="en-US" sz="4066" spc="61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Sector&amp; Business Model</a:t>
            </a:r>
          </a:p>
          <a:p>
            <a:pPr algn="l">
              <a:lnSpc>
                <a:spcPts val="5192"/>
              </a:lnSpc>
            </a:pPr>
            <a:r>
              <a:rPr lang="en-US" sz="3253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Logiciel operates in the </a:t>
            </a:r>
            <a:r>
              <a:rPr lang="en-US" b="true" sz="3253">
                <a:solidFill>
                  <a:srgbClr val="BFBFB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IT – Software</a:t>
            </a:r>
            <a:r>
              <a:rPr lang="en-US" sz="3253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 sector, specializing in enterprise software development, digital transformation, and product engineering.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36022" y="2881946"/>
            <a:ext cx="4650831" cy="155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8"/>
              </a:lnSpc>
            </a:pPr>
            <a:r>
              <a:rPr lang="en-US" sz="4195" spc="62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Revenue Streams</a:t>
            </a:r>
          </a:p>
          <a:p>
            <a:pPr algn="ctr">
              <a:lnSpc>
                <a:spcPts val="9141"/>
              </a:lnSpc>
            </a:pPr>
            <a:r>
              <a:rPr lang="en-US" sz="36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74468" y="2766889"/>
            <a:ext cx="2966740" cy="799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7"/>
              </a:lnSpc>
            </a:pPr>
            <a:r>
              <a:rPr lang="en-US" sz="3795" spc="56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Client</a:t>
            </a:r>
            <a:r>
              <a:rPr lang="en-US" sz="3795" spc="5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3795" spc="56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Profile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828824" y="2911158"/>
            <a:ext cx="72645" cy="539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3"/>
              </a:lnSpc>
            </a:pP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686990" y="3310996"/>
            <a:ext cx="3572310" cy="583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65"/>
              </a:lnSpc>
            </a:pPr>
            <a:r>
              <a:rPr lang="en-US" sz="3463" spc="51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Founding Team</a:t>
            </a:r>
          </a:p>
          <a:p>
            <a:pPr algn="just">
              <a:lnSpc>
                <a:spcPts val="4669"/>
              </a:lnSpc>
            </a:pPr>
            <a:r>
              <a:rPr lang="en-US" sz="2931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founder-led organization with a strong emphasis on delivery excellence, fostering a high-</a:t>
            </a:r>
          </a:p>
          <a:p>
            <a:pPr algn="just">
              <a:lnSpc>
                <a:spcPts val="5047"/>
              </a:lnSpc>
            </a:pPr>
            <a:r>
              <a:rPr lang="en-US" sz="2931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retention </a:t>
            </a:r>
          </a:p>
          <a:p>
            <a:pPr algn="just">
              <a:lnSpc>
                <a:spcPts val="4396"/>
              </a:lnSpc>
            </a:pPr>
            <a:r>
              <a:rPr lang="en-US" sz="2931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environment and </a:t>
            </a:r>
          </a:p>
          <a:p>
            <a:pPr algn="just">
              <a:lnSpc>
                <a:spcPts val="5047"/>
              </a:lnSpc>
            </a:pPr>
            <a:r>
              <a:rPr lang="en-US" sz="2931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deep client </a:t>
            </a:r>
          </a:p>
          <a:p>
            <a:pPr algn="just">
              <a:lnSpc>
                <a:spcPts val="4396"/>
              </a:lnSpc>
            </a:pPr>
            <a:r>
              <a:rPr lang="en-US" sz="2931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relationships.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901195" y="3705311"/>
            <a:ext cx="4936076" cy="544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6"/>
              </a:lnSpc>
            </a:pPr>
            <a:r>
              <a:rPr lang="en-US" sz="2747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Their</a:t>
            </a:r>
            <a:r>
              <a:rPr lang="en-US" sz="2747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747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robust revenue </a:t>
            </a:r>
          </a:p>
          <a:p>
            <a:pPr algn="l">
              <a:lnSpc>
                <a:spcPts val="4376"/>
              </a:lnSpc>
            </a:pPr>
            <a:r>
              <a:rPr lang="en-US" sz="2747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model includes custom development projects, </a:t>
            </a:r>
          </a:p>
          <a:p>
            <a:pPr algn="l">
              <a:lnSpc>
                <a:spcPts val="4376"/>
              </a:lnSpc>
            </a:pPr>
            <a:r>
              <a:rPr lang="en-US" sz="2747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long- term enterprise </a:t>
            </a:r>
          </a:p>
          <a:p>
            <a:pPr algn="l">
              <a:lnSpc>
                <a:spcPts val="4730"/>
              </a:lnSpc>
            </a:pPr>
            <a:r>
              <a:rPr lang="en-US" sz="2747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contracts, and </a:t>
            </a:r>
          </a:p>
          <a:p>
            <a:pPr algn="l">
              <a:lnSpc>
                <a:spcPts val="4120"/>
              </a:lnSpc>
            </a:pPr>
            <a:r>
              <a:rPr lang="en-US" sz="2747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recurring revenue </a:t>
            </a:r>
          </a:p>
          <a:p>
            <a:pPr algn="l">
              <a:lnSpc>
                <a:spcPts val="4730"/>
              </a:lnSpc>
            </a:pPr>
            <a:r>
              <a:rPr lang="en-US" sz="2747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from annual </a:t>
            </a:r>
          </a:p>
          <a:p>
            <a:pPr algn="l">
              <a:lnSpc>
                <a:spcPts val="4348"/>
              </a:lnSpc>
            </a:pPr>
            <a:r>
              <a:rPr lang="en-US" sz="2747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maintenance </a:t>
            </a:r>
          </a:p>
          <a:p>
            <a:pPr algn="l">
              <a:lnSpc>
                <a:spcPts val="4348"/>
              </a:lnSpc>
            </a:pPr>
            <a:r>
              <a:rPr lang="en-US" sz="2747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contracts (AMC) and </a:t>
            </a:r>
          </a:p>
          <a:p>
            <a:pPr algn="l">
              <a:lnSpc>
                <a:spcPts val="4348"/>
              </a:lnSpc>
            </a:pPr>
            <a:r>
              <a:rPr lang="en-US" sz="2747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support services.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286853" y="3552598"/>
            <a:ext cx="4114387" cy="5620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2"/>
              </a:lnSpc>
            </a:pPr>
            <a:r>
              <a:rPr lang="en-US" sz="3561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Logiciel serves a diverse client base across mid- market and enterprise segments, with </a:t>
            </a:r>
          </a:p>
          <a:p>
            <a:pPr algn="l">
              <a:lnSpc>
                <a:spcPts val="6132"/>
              </a:lnSpc>
            </a:pPr>
            <a:r>
              <a:rPr lang="en-US" sz="3561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strong presence in </a:t>
            </a:r>
          </a:p>
          <a:p>
            <a:pPr algn="l">
              <a:lnSpc>
                <a:spcPts val="5341"/>
              </a:lnSpc>
            </a:pPr>
            <a:r>
              <a:rPr lang="en-US" sz="3561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India and growing </a:t>
            </a:r>
          </a:p>
          <a:p>
            <a:pPr algn="l">
              <a:lnSpc>
                <a:spcPts val="6132"/>
              </a:lnSpc>
            </a:pPr>
            <a:r>
              <a:rPr lang="en-US" sz="3561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export markets.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72613" y="8338771"/>
            <a:ext cx="30433" cy="1049955"/>
            <a:chOff x="0" y="0"/>
            <a:chExt cx="19050" cy="6572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050" cy="657225"/>
            </a:xfrm>
            <a:custGeom>
              <a:avLst/>
              <a:gdLst/>
              <a:ahLst/>
              <a:cxnLst/>
              <a:rect r="r" b="b" t="t" l="l"/>
              <a:pathLst>
                <a:path h="657225" w="19050">
                  <a:moveTo>
                    <a:pt x="0" y="0"/>
                  </a:moveTo>
                  <a:lnTo>
                    <a:pt x="19050" y="0"/>
                  </a:lnTo>
                  <a:lnTo>
                    <a:pt x="19050" y="657225"/>
                  </a:lnTo>
                  <a:lnTo>
                    <a:pt x="0" y="657225"/>
                  </a:lnTo>
                  <a:close/>
                </a:path>
              </a:pathLst>
            </a:custGeom>
            <a:solidFill>
              <a:srgbClr val="F5F547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185197" y="2199670"/>
            <a:ext cx="5915947" cy="5915947"/>
          </a:xfrm>
          <a:custGeom>
            <a:avLst/>
            <a:gdLst/>
            <a:ahLst/>
            <a:cxnLst/>
            <a:rect r="r" b="b" t="t" l="l"/>
            <a:pathLst>
              <a:path h="5915947" w="5915947">
                <a:moveTo>
                  <a:pt x="0" y="0"/>
                </a:moveTo>
                <a:lnTo>
                  <a:pt x="5915947" y="0"/>
                </a:lnTo>
                <a:lnTo>
                  <a:pt x="5915947" y="5915948"/>
                </a:lnTo>
                <a:lnTo>
                  <a:pt x="0" y="59159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72613" y="847290"/>
            <a:ext cx="13169263" cy="929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8"/>
              </a:lnSpc>
            </a:pPr>
            <a:r>
              <a:rPr lang="en-US" sz="5391" spc="80">
                <a:solidFill>
                  <a:srgbClr val="FEFEFE"/>
                </a:solidFill>
                <a:latin typeface="Open Sans 1"/>
                <a:ea typeface="Open Sans 1"/>
                <a:cs typeface="Open Sans 1"/>
                <a:sym typeface="Open Sans 1"/>
              </a:rPr>
              <a:t>RISKFERA Breakdown: Logiciel Solutions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83465" y="8642667"/>
            <a:ext cx="2405096" cy="384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9"/>
              </a:lnSpc>
            </a:pPr>
            <a:r>
              <a:rPr lang="en-US" b="true" sz="2156">
                <a:solidFill>
                  <a:srgbClr val="BFBFB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Judge Takeaway:</a:t>
            </a: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175492" y="3011093"/>
            <a:ext cx="1731391" cy="415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b="true" sz="2156">
                <a:solidFill>
                  <a:srgbClr val="BFBFB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3 / 100 (Low)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32050" y="3446094"/>
            <a:ext cx="5010460" cy="857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74"/>
              </a:lnSpc>
            </a:pP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Minimal operational and market risks, indicating a stable and secure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72123" y="4328664"/>
            <a:ext cx="1530849" cy="415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investment.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443216" y="6084874"/>
            <a:ext cx="1458418" cy="415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4"/>
              </a:lnSpc>
            </a:pPr>
            <a:r>
              <a:rPr lang="en-US" b="true" sz="2156">
                <a:solidFill>
                  <a:srgbClr val="BFBFB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95.41 / 100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0375" y="6519874"/>
            <a:ext cx="4828574" cy="857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14"/>
              </a:lnSpc>
            </a:pP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The highest-scoring target, reflecting comprehensive strengths across all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501208" y="7387228"/>
            <a:ext cx="2419202" cy="415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4"/>
              </a:lnSpc>
            </a:pP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evaluation criteria.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414655" y="6084874"/>
            <a:ext cx="4261568" cy="1718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4"/>
              </a:lnSpc>
            </a:pPr>
            <a:r>
              <a:rPr lang="en-US" b="true" sz="2156">
                <a:solidFill>
                  <a:srgbClr val="BFBFB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96 / 100 (Very High) </a:t>
            </a: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Integration and execution of the acquisition are projected to be seamless and highly achievable.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414655" y="3011093"/>
            <a:ext cx="4896228" cy="173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b="true" sz="2156">
                <a:solidFill>
                  <a:srgbClr val="BFBFB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93.2 / 100 (High) </a:t>
            </a: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Exceptional alignment with InnovaTech's strategic objectives and market position.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22962" y="8633659"/>
            <a:ext cx="7206600" cy="386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223" i="true">
                <a:solidFill>
                  <a:srgbClr val="BFBFBF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“This company is stable, aligned, and execution-ready.”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122006" y="5493672"/>
            <a:ext cx="1785943" cy="469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4"/>
              </a:lnSpc>
            </a:pPr>
            <a:r>
              <a:rPr lang="en-US" sz="2695" spc="40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Final Score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211433" y="2435108"/>
            <a:ext cx="674695" cy="469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4"/>
              </a:lnSpc>
            </a:pPr>
            <a:r>
              <a:rPr lang="en-US" sz="2695" spc="40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Risk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414655" y="2435108"/>
            <a:ext cx="1340320" cy="469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695" spc="40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Synergy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414655" y="5493672"/>
            <a:ext cx="1639603" cy="469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695" spc="40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Feasibility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4639" y="-98349"/>
            <a:ext cx="17898708" cy="10478610"/>
            <a:chOff x="0" y="0"/>
            <a:chExt cx="11557000" cy="67659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1430000" cy="6638925"/>
            </a:xfrm>
            <a:custGeom>
              <a:avLst/>
              <a:gdLst/>
              <a:ahLst/>
              <a:cxnLst/>
              <a:rect r="r" b="b" t="t" l="l"/>
              <a:pathLst>
                <a:path h="6638925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6638925"/>
                  </a:lnTo>
                  <a:lnTo>
                    <a:pt x="0" y="66389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1430000" cy="6638925"/>
            </a:xfrm>
            <a:custGeom>
              <a:avLst/>
              <a:gdLst/>
              <a:ahLst/>
              <a:cxnLst/>
              <a:rect r="r" b="b" t="t" l="l"/>
              <a:pathLst>
                <a:path h="6638925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6638925"/>
                  </a:lnTo>
                  <a:lnTo>
                    <a:pt x="0" y="6638925"/>
                  </a:lnTo>
                  <a:close/>
                </a:path>
              </a:pathLst>
            </a:custGeom>
            <a:solidFill>
              <a:srgbClr val="F5F5F6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11430000" cy="6638925"/>
            </a:xfrm>
            <a:custGeom>
              <a:avLst/>
              <a:gdLst/>
              <a:ahLst/>
              <a:cxnLst/>
              <a:rect r="r" b="b" t="t" l="l"/>
              <a:pathLst>
                <a:path h="6638925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6638925"/>
                  </a:lnTo>
                  <a:lnTo>
                    <a:pt x="0" y="663892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63500"/>
              <a:ext cx="11430000" cy="6638925"/>
            </a:xfrm>
            <a:custGeom>
              <a:avLst/>
              <a:gdLst/>
              <a:ahLst/>
              <a:cxnLst/>
              <a:rect r="r" b="b" t="t" l="l"/>
              <a:pathLst>
                <a:path h="6638925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6638925"/>
                  </a:lnTo>
                  <a:lnTo>
                    <a:pt x="0" y="663892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11430000" cy="6638925"/>
            </a:xfrm>
            <a:custGeom>
              <a:avLst/>
              <a:gdLst/>
              <a:ahLst/>
              <a:cxnLst/>
              <a:rect r="r" b="b" t="t" l="l"/>
              <a:pathLst>
                <a:path h="6638925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6638925"/>
                  </a:lnTo>
                  <a:lnTo>
                    <a:pt x="0" y="6638925"/>
                  </a:lnTo>
                  <a:close/>
                </a:path>
              </a:pathLst>
            </a:custGeom>
            <a:solidFill>
              <a:srgbClr val="1F1F1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63575" y="1416050"/>
              <a:ext cx="857250" cy="1090803"/>
            </a:xfrm>
            <a:custGeom>
              <a:avLst/>
              <a:gdLst/>
              <a:ahLst/>
              <a:cxnLst/>
              <a:rect r="r" b="b" t="t" l="l"/>
              <a:pathLst>
                <a:path h="1090803" w="857250">
                  <a:moveTo>
                    <a:pt x="0" y="1090803"/>
                  </a:moveTo>
                  <a:lnTo>
                    <a:pt x="0" y="257175"/>
                  </a:lnTo>
                  <a:lnTo>
                    <a:pt x="857250" y="0"/>
                  </a:lnTo>
                  <a:lnTo>
                    <a:pt x="857250" y="833628"/>
                  </a:lnTo>
                  <a:lnTo>
                    <a:pt x="0" y="1090803"/>
                  </a:lnTo>
                  <a:close/>
                </a:path>
              </a:pathLst>
            </a:custGeom>
            <a:solidFill>
              <a:srgbClr val="3E3E3E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63575" y="2673350"/>
              <a:ext cx="857250" cy="1090803"/>
            </a:xfrm>
            <a:custGeom>
              <a:avLst/>
              <a:gdLst/>
              <a:ahLst/>
              <a:cxnLst/>
              <a:rect r="r" b="b" t="t" l="l"/>
              <a:pathLst>
                <a:path h="1090803" w="857250">
                  <a:moveTo>
                    <a:pt x="0" y="1090803"/>
                  </a:moveTo>
                  <a:lnTo>
                    <a:pt x="0" y="257175"/>
                  </a:lnTo>
                  <a:lnTo>
                    <a:pt x="857250" y="0"/>
                  </a:lnTo>
                  <a:lnTo>
                    <a:pt x="857250" y="833628"/>
                  </a:lnTo>
                  <a:lnTo>
                    <a:pt x="0" y="1090803"/>
                  </a:lnTo>
                  <a:close/>
                </a:path>
              </a:pathLst>
            </a:custGeom>
            <a:solidFill>
              <a:srgbClr val="3E3E3E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63575" y="3940175"/>
              <a:ext cx="857250" cy="857250"/>
            </a:xfrm>
            <a:custGeom>
              <a:avLst/>
              <a:gdLst/>
              <a:ahLst/>
              <a:cxnLst/>
              <a:rect r="r" b="b" t="t" l="l"/>
              <a:pathLst>
                <a:path h="857250" w="857250">
                  <a:moveTo>
                    <a:pt x="0" y="857250"/>
                  </a:moveTo>
                  <a:lnTo>
                    <a:pt x="0" y="257175"/>
                  </a:lnTo>
                  <a:lnTo>
                    <a:pt x="857250" y="0"/>
                  </a:lnTo>
                  <a:lnTo>
                    <a:pt x="857250" y="600075"/>
                  </a:lnTo>
                  <a:lnTo>
                    <a:pt x="0" y="857250"/>
                  </a:lnTo>
                  <a:close/>
                </a:path>
              </a:pathLst>
            </a:custGeom>
            <a:solidFill>
              <a:srgbClr val="3E3E3E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63575" y="4968875"/>
              <a:ext cx="857250" cy="1090803"/>
            </a:xfrm>
            <a:custGeom>
              <a:avLst/>
              <a:gdLst/>
              <a:ahLst/>
              <a:cxnLst/>
              <a:rect r="r" b="b" t="t" l="l"/>
              <a:pathLst>
                <a:path h="1090803" w="857250">
                  <a:moveTo>
                    <a:pt x="0" y="1090803"/>
                  </a:moveTo>
                  <a:lnTo>
                    <a:pt x="0" y="257175"/>
                  </a:lnTo>
                  <a:lnTo>
                    <a:pt x="857250" y="0"/>
                  </a:lnTo>
                  <a:lnTo>
                    <a:pt x="857250" y="833628"/>
                  </a:lnTo>
                  <a:lnTo>
                    <a:pt x="0" y="1090803"/>
                  </a:lnTo>
                  <a:close/>
                </a:path>
              </a:pathLst>
            </a:custGeom>
            <a:solidFill>
              <a:srgbClr val="3E3E3E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22344" y="885454"/>
            <a:ext cx="7744709" cy="704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6"/>
              </a:lnSpc>
            </a:pPr>
            <a:r>
              <a:rPr lang="en-US" sz="5226" spc="78">
                <a:solidFill>
                  <a:srgbClr val="FEFEFE"/>
                </a:solidFill>
                <a:latin typeface="Open Sans 1"/>
                <a:ea typeface="Open Sans 1"/>
                <a:cs typeface="Open Sans 1"/>
                <a:sym typeface="Open Sans 1"/>
              </a:rPr>
              <a:t>Strategic Fit &amp; Synergies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529479" y="1787681"/>
            <a:ext cx="66692" cy="733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33"/>
              </a:lnSpc>
            </a:pPr>
            <a:r>
              <a:rPr lang="en-US" sz="2613" spc="39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65162" y="8170456"/>
            <a:ext cx="246604" cy="537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0"/>
              </a:lnSpc>
            </a:pPr>
            <a:r>
              <a:rPr lang="en-US" sz="3136" spc="47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71151" y="6385502"/>
            <a:ext cx="234419" cy="537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0"/>
              </a:lnSpc>
            </a:pPr>
            <a:r>
              <a:rPr lang="en-US" sz="3136" spc="47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76226" y="4615299"/>
            <a:ext cx="223857" cy="537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0"/>
              </a:lnSpc>
            </a:pPr>
            <a:r>
              <a:rPr lang="en-US" sz="3136" spc="47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08488" y="2668077"/>
            <a:ext cx="158035" cy="537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0"/>
              </a:lnSpc>
            </a:pPr>
            <a:r>
              <a:rPr lang="en-US" sz="3136" spc="47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815527" y="5973103"/>
            <a:ext cx="14123663" cy="985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8"/>
              </a:lnSpc>
            </a:pPr>
            <a:r>
              <a:rPr lang="en-US" sz="2613" spc="39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Cost Synergies</a:t>
            </a:r>
          </a:p>
          <a:p>
            <a:pPr algn="l">
              <a:lnSpc>
                <a:spcPts val="2927"/>
              </a:lnSpc>
            </a:pPr>
            <a:r>
              <a:rPr lang="en-US" sz="2090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Realizable cost efficiencies from leveraging shared delivery teams and optimizing sales and overhead structures.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815527" y="7566286"/>
            <a:ext cx="13646018" cy="1413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8"/>
              </a:lnSpc>
            </a:pPr>
            <a:r>
              <a:rPr lang="en-US" sz="2613" spc="39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Tech Synergies</a:t>
            </a:r>
          </a:p>
          <a:p>
            <a:pPr algn="l">
              <a:lnSpc>
                <a:spcPts val="3368"/>
              </a:lnSpc>
            </a:pPr>
            <a:r>
              <a:rPr lang="en-US" sz="2090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Enhanced technological advantage leading to faster productization of solutions and the creation of reusable intellectual property.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815527" y="4011129"/>
            <a:ext cx="13766864" cy="1413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8"/>
              </a:lnSpc>
            </a:pPr>
            <a:r>
              <a:rPr lang="en-US" sz="2613" spc="39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Revenue Synergies</a:t>
            </a:r>
          </a:p>
          <a:p>
            <a:pPr algn="l">
              <a:lnSpc>
                <a:spcPts val="3368"/>
              </a:lnSpc>
            </a:pPr>
            <a:r>
              <a:rPr lang="en-US" sz="2090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Opportunities for significant revenue growth through cross-selling to existing enterprise clients and upselling productized offerings across both organizations' customer bases.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815527" y="2063906"/>
            <a:ext cx="3816158" cy="457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8"/>
              </a:lnSpc>
            </a:pPr>
            <a:r>
              <a:rPr lang="en-US" sz="2613" spc="39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Goal</a:t>
            </a:r>
            <a:r>
              <a:rPr lang="en-US" sz="2613" spc="3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613" spc="39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→</a:t>
            </a:r>
            <a:r>
              <a:rPr lang="en-US" sz="2613" spc="3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613" spc="39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Capability</a:t>
            </a:r>
            <a:r>
              <a:rPr lang="en-US" sz="2613" spc="3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613" spc="39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Match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815527" y="2630366"/>
            <a:ext cx="14229078" cy="8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8"/>
              </a:lnSpc>
            </a:pPr>
            <a:r>
              <a:rPr lang="en-US" sz="2090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Logiciel's capabilities offer a direct and powerful fit with InnovaTech’s digital expansion strategy, accelerating our market reach and service offerings.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5984" y="-85587"/>
            <a:ext cx="15576018" cy="10453903"/>
            <a:chOff x="0" y="0"/>
            <a:chExt cx="11557000" cy="77565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1430000" cy="7629525"/>
            </a:xfrm>
            <a:custGeom>
              <a:avLst/>
              <a:gdLst/>
              <a:ahLst/>
              <a:cxnLst/>
              <a:rect r="r" b="b" t="t" l="l"/>
              <a:pathLst>
                <a:path h="7629525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7629525"/>
                  </a:lnTo>
                  <a:lnTo>
                    <a:pt x="0" y="76295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1430000" cy="7629525"/>
            </a:xfrm>
            <a:custGeom>
              <a:avLst/>
              <a:gdLst/>
              <a:ahLst/>
              <a:cxnLst/>
              <a:rect r="r" b="b" t="t" l="l"/>
              <a:pathLst>
                <a:path h="7629525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7629525"/>
                  </a:lnTo>
                  <a:lnTo>
                    <a:pt x="0" y="7629525"/>
                  </a:lnTo>
                  <a:close/>
                </a:path>
              </a:pathLst>
            </a:custGeom>
            <a:solidFill>
              <a:srgbClr val="F5F5F6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11430000" cy="7629525"/>
            </a:xfrm>
            <a:custGeom>
              <a:avLst/>
              <a:gdLst/>
              <a:ahLst/>
              <a:cxnLst/>
              <a:rect r="r" b="b" t="t" l="l"/>
              <a:pathLst>
                <a:path h="7629525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7629525"/>
                  </a:lnTo>
                  <a:lnTo>
                    <a:pt x="0" y="762952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63500"/>
              <a:ext cx="11430000" cy="7629525"/>
            </a:xfrm>
            <a:custGeom>
              <a:avLst/>
              <a:gdLst/>
              <a:ahLst/>
              <a:cxnLst/>
              <a:rect r="r" b="b" t="t" l="l"/>
              <a:pathLst>
                <a:path h="7629525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7629525"/>
                  </a:lnTo>
                  <a:lnTo>
                    <a:pt x="0" y="762952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11430000" cy="7629525"/>
            </a:xfrm>
            <a:custGeom>
              <a:avLst/>
              <a:gdLst/>
              <a:ahLst/>
              <a:cxnLst/>
              <a:rect r="r" b="b" t="t" l="l"/>
              <a:pathLst>
                <a:path h="7629525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7629525"/>
                  </a:lnTo>
                  <a:lnTo>
                    <a:pt x="0" y="7629525"/>
                  </a:lnTo>
                  <a:close/>
                </a:path>
              </a:pathLst>
            </a:custGeom>
            <a:solidFill>
              <a:srgbClr val="1F1F1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860298" y="1612767"/>
              <a:ext cx="9836277" cy="4097153"/>
            </a:xfrm>
            <a:custGeom>
              <a:avLst/>
              <a:gdLst/>
              <a:ahLst/>
              <a:cxnLst/>
              <a:rect r="r" b="b" t="t" l="l"/>
              <a:pathLst>
                <a:path h="4097153" w="9836277">
                  <a:moveTo>
                    <a:pt x="85471" y="216795"/>
                  </a:moveTo>
                  <a:cubicBezTo>
                    <a:pt x="85471" y="96399"/>
                    <a:pt x="183515" y="-883"/>
                    <a:pt x="303911" y="6"/>
                  </a:cubicBezTo>
                  <a:lnTo>
                    <a:pt x="983742" y="6102"/>
                  </a:lnTo>
                  <a:cubicBezTo>
                    <a:pt x="1102741" y="6991"/>
                    <a:pt x="1198753" y="103765"/>
                    <a:pt x="1198753" y="222891"/>
                  </a:cubicBezTo>
                  <a:lnTo>
                    <a:pt x="1198753" y="3880364"/>
                  </a:lnTo>
                  <a:cubicBezTo>
                    <a:pt x="1198753" y="3978281"/>
                    <a:pt x="1278128" y="4057656"/>
                    <a:pt x="1376045" y="4057656"/>
                  </a:cubicBezTo>
                  <a:lnTo>
                    <a:pt x="3489579" y="4057656"/>
                  </a:lnTo>
                  <a:cubicBezTo>
                    <a:pt x="3587496" y="4057656"/>
                    <a:pt x="3666871" y="3978281"/>
                    <a:pt x="3666871" y="3880364"/>
                  </a:cubicBezTo>
                  <a:lnTo>
                    <a:pt x="3666871" y="224415"/>
                  </a:lnTo>
                  <a:cubicBezTo>
                    <a:pt x="3666871" y="104654"/>
                    <a:pt x="3763899" y="7626"/>
                    <a:pt x="3883660" y="7626"/>
                  </a:cubicBezTo>
                  <a:lnTo>
                    <a:pt x="6041390" y="7626"/>
                  </a:lnTo>
                  <a:cubicBezTo>
                    <a:pt x="6161151" y="7626"/>
                    <a:pt x="6258179" y="104654"/>
                    <a:pt x="6258179" y="224415"/>
                  </a:cubicBezTo>
                  <a:lnTo>
                    <a:pt x="6258179" y="3794385"/>
                  </a:lnTo>
                  <a:cubicBezTo>
                    <a:pt x="6258179" y="3892302"/>
                    <a:pt x="6337554" y="3971677"/>
                    <a:pt x="6435471" y="3971677"/>
                  </a:cubicBezTo>
                  <a:lnTo>
                    <a:pt x="8514461" y="3971677"/>
                  </a:lnTo>
                  <a:cubicBezTo>
                    <a:pt x="8612378" y="3971677"/>
                    <a:pt x="8691753" y="3892302"/>
                    <a:pt x="8691753" y="3794385"/>
                  </a:cubicBezTo>
                  <a:lnTo>
                    <a:pt x="8691753" y="224415"/>
                  </a:lnTo>
                  <a:cubicBezTo>
                    <a:pt x="8691753" y="104654"/>
                    <a:pt x="8788780" y="7626"/>
                    <a:pt x="8908542" y="7626"/>
                  </a:cubicBezTo>
                  <a:lnTo>
                    <a:pt x="9534144" y="7626"/>
                  </a:lnTo>
                  <a:cubicBezTo>
                    <a:pt x="9653904" y="7626"/>
                    <a:pt x="9750933" y="104654"/>
                    <a:pt x="9750933" y="224415"/>
                  </a:cubicBezTo>
                  <a:lnTo>
                    <a:pt x="9750933" y="1959362"/>
                  </a:lnTo>
                  <a:cubicBezTo>
                    <a:pt x="9799574" y="1968633"/>
                    <a:pt x="9836277" y="2011305"/>
                    <a:pt x="9836277" y="2062613"/>
                  </a:cubicBezTo>
                  <a:cubicBezTo>
                    <a:pt x="9836277" y="2120652"/>
                    <a:pt x="9789160" y="2167769"/>
                    <a:pt x="9731121" y="2167769"/>
                  </a:cubicBezTo>
                  <a:cubicBezTo>
                    <a:pt x="9673082" y="2167769"/>
                    <a:pt x="9625965" y="2120652"/>
                    <a:pt x="9625965" y="2062613"/>
                  </a:cubicBezTo>
                  <a:cubicBezTo>
                    <a:pt x="9625965" y="2011305"/>
                    <a:pt x="9662795" y="1968633"/>
                    <a:pt x="9711309" y="1959362"/>
                  </a:cubicBezTo>
                  <a:lnTo>
                    <a:pt x="9711309" y="224415"/>
                  </a:lnTo>
                  <a:cubicBezTo>
                    <a:pt x="9711309" y="126498"/>
                    <a:pt x="9631934" y="47123"/>
                    <a:pt x="9534016" y="47123"/>
                  </a:cubicBezTo>
                  <a:lnTo>
                    <a:pt x="8908542" y="47123"/>
                  </a:lnTo>
                  <a:cubicBezTo>
                    <a:pt x="8810625" y="47123"/>
                    <a:pt x="8731250" y="126498"/>
                    <a:pt x="8731250" y="224415"/>
                  </a:cubicBezTo>
                  <a:lnTo>
                    <a:pt x="8731250" y="3794385"/>
                  </a:lnTo>
                  <a:cubicBezTo>
                    <a:pt x="8731250" y="3914146"/>
                    <a:pt x="8634222" y="4011174"/>
                    <a:pt x="8514461" y="4011174"/>
                  </a:cubicBezTo>
                  <a:lnTo>
                    <a:pt x="6435471" y="4011174"/>
                  </a:lnTo>
                  <a:cubicBezTo>
                    <a:pt x="6315710" y="4011174"/>
                    <a:pt x="6218682" y="3914146"/>
                    <a:pt x="6218682" y="3794385"/>
                  </a:cubicBezTo>
                  <a:lnTo>
                    <a:pt x="6218682" y="224415"/>
                  </a:lnTo>
                  <a:cubicBezTo>
                    <a:pt x="6218682" y="126498"/>
                    <a:pt x="6139307" y="47123"/>
                    <a:pt x="6041389" y="47123"/>
                  </a:cubicBezTo>
                  <a:lnTo>
                    <a:pt x="3883660" y="47123"/>
                  </a:lnTo>
                  <a:cubicBezTo>
                    <a:pt x="3785743" y="47123"/>
                    <a:pt x="3706368" y="126498"/>
                    <a:pt x="3706368" y="224415"/>
                  </a:cubicBezTo>
                  <a:lnTo>
                    <a:pt x="3706368" y="3880364"/>
                  </a:lnTo>
                  <a:cubicBezTo>
                    <a:pt x="3706368" y="4000125"/>
                    <a:pt x="3609340" y="4097153"/>
                    <a:pt x="3489579" y="4097153"/>
                  </a:cubicBezTo>
                  <a:lnTo>
                    <a:pt x="1376172" y="4097153"/>
                  </a:lnTo>
                  <a:cubicBezTo>
                    <a:pt x="1256411" y="4097153"/>
                    <a:pt x="1159383" y="4000125"/>
                    <a:pt x="1159383" y="3880364"/>
                  </a:cubicBezTo>
                  <a:lnTo>
                    <a:pt x="1159383" y="222891"/>
                  </a:lnTo>
                  <a:cubicBezTo>
                    <a:pt x="1159383" y="125482"/>
                    <a:pt x="1080770" y="46361"/>
                    <a:pt x="983488" y="45599"/>
                  </a:cubicBezTo>
                  <a:lnTo>
                    <a:pt x="303657" y="39503"/>
                  </a:lnTo>
                  <a:cubicBezTo>
                    <a:pt x="205105" y="38741"/>
                    <a:pt x="124968" y="118370"/>
                    <a:pt x="124968" y="216795"/>
                  </a:cubicBezTo>
                  <a:lnTo>
                    <a:pt x="124968" y="1959362"/>
                  </a:lnTo>
                  <a:cubicBezTo>
                    <a:pt x="173609" y="1968633"/>
                    <a:pt x="210312" y="2011305"/>
                    <a:pt x="210312" y="2062613"/>
                  </a:cubicBezTo>
                  <a:cubicBezTo>
                    <a:pt x="210312" y="2120652"/>
                    <a:pt x="163195" y="2167769"/>
                    <a:pt x="105156" y="2167769"/>
                  </a:cubicBezTo>
                  <a:cubicBezTo>
                    <a:pt x="47117" y="2167769"/>
                    <a:pt x="0" y="2120652"/>
                    <a:pt x="0" y="2062613"/>
                  </a:cubicBezTo>
                  <a:cubicBezTo>
                    <a:pt x="0" y="2011305"/>
                    <a:pt x="36830" y="1968633"/>
                    <a:pt x="85344" y="1959362"/>
                  </a:cubicBezTo>
                  <a:lnTo>
                    <a:pt x="85344" y="216795"/>
                  </a:lnTo>
                  <a:close/>
                </a:path>
              </a:pathLst>
            </a:custGeom>
            <a:solidFill>
              <a:srgbClr val="F5F547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932210" y="3522599"/>
              <a:ext cx="217615" cy="211931"/>
            </a:xfrm>
            <a:custGeom>
              <a:avLst/>
              <a:gdLst/>
              <a:ahLst/>
              <a:cxnLst/>
              <a:rect r="r" b="b" t="t" l="l"/>
              <a:pathLst>
                <a:path h="211931" w="217615">
                  <a:moveTo>
                    <a:pt x="213328" y="92583"/>
                  </a:moveTo>
                  <a:cubicBezTo>
                    <a:pt x="219043" y="98298"/>
                    <a:pt x="219043" y="107696"/>
                    <a:pt x="213328" y="113538"/>
                  </a:cubicBezTo>
                  <a:lnTo>
                    <a:pt x="119348" y="207645"/>
                  </a:lnTo>
                  <a:cubicBezTo>
                    <a:pt x="113633" y="213360"/>
                    <a:pt x="104235" y="213360"/>
                    <a:pt x="98393" y="207645"/>
                  </a:cubicBezTo>
                  <a:lnTo>
                    <a:pt x="4286" y="113538"/>
                  </a:lnTo>
                  <a:cubicBezTo>
                    <a:pt x="-1429" y="107823"/>
                    <a:pt x="-1429" y="98425"/>
                    <a:pt x="4286" y="92583"/>
                  </a:cubicBezTo>
                  <a:cubicBezTo>
                    <a:pt x="10001" y="86741"/>
                    <a:pt x="19399" y="86868"/>
                    <a:pt x="25241" y="92583"/>
                  </a:cubicBezTo>
                  <a:lnTo>
                    <a:pt x="94075" y="161417"/>
                  </a:lnTo>
                  <a:lnTo>
                    <a:pt x="94075" y="0"/>
                  </a:lnTo>
                  <a:lnTo>
                    <a:pt x="123666" y="0"/>
                  </a:lnTo>
                  <a:lnTo>
                    <a:pt x="123666" y="161417"/>
                  </a:lnTo>
                  <a:lnTo>
                    <a:pt x="192500" y="92583"/>
                  </a:lnTo>
                  <a:cubicBezTo>
                    <a:pt x="198215" y="86868"/>
                    <a:pt x="207613" y="86868"/>
                    <a:pt x="213455" y="92583"/>
                  </a:cubicBezTo>
                  <a:close/>
                </a:path>
              </a:pathLst>
            </a:custGeom>
            <a:solidFill>
              <a:srgbClr val="F5F547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434745" y="3606323"/>
              <a:ext cx="217615" cy="211931"/>
            </a:xfrm>
            <a:custGeom>
              <a:avLst/>
              <a:gdLst/>
              <a:ahLst/>
              <a:cxnLst/>
              <a:rect r="r" b="b" t="t" l="l"/>
              <a:pathLst>
                <a:path h="211931" w="217615">
                  <a:moveTo>
                    <a:pt x="213328" y="119349"/>
                  </a:moveTo>
                  <a:cubicBezTo>
                    <a:pt x="219043" y="113634"/>
                    <a:pt x="219043" y="104236"/>
                    <a:pt x="213328" y="98394"/>
                  </a:cubicBezTo>
                  <a:lnTo>
                    <a:pt x="119221" y="4287"/>
                  </a:lnTo>
                  <a:cubicBezTo>
                    <a:pt x="113506" y="-1428"/>
                    <a:pt x="104108" y="-1428"/>
                    <a:pt x="98266" y="4287"/>
                  </a:cubicBezTo>
                  <a:lnTo>
                    <a:pt x="4286" y="98394"/>
                  </a:lnTo>
                  <a:cubicBezTo>
                    <a:pt x="-1429" y="104109"/>
                    <a:pt x="-1429" y="113507"/>
                    <a:pt x="4286" y="119349"/>
                  </a:cubicBezTo>
                  <a:cubicBezTo>
                    <a:pt x="10001" y="125191"/>
                    <a:pt x="19399" y="125064"/>
                    <a:pt x="25241" y="119349"/>
                  </a:cubicBezTo>
                  <a:lnTo>
                    <a:pt x="94075" y="50515"/>
                  </a:lnTo>
                  <a:lnTo>
                    <a:pt x="94075" y="211932"/>
                  </a:lnTo>
                  <a:lnTo>
                    <a:pt x="123666" y="211932"/>
                  </a:lnTo>
                  <a:lnTo>
                    <a:pt x="123666" y="50515"/>
                  </a:lnTo>
                  <a:lnTo>
                    <a:pt x="192500" y="119349"/>
                  </a:lnTo>
                  <a:cubicBezTo>
                    <a:pt x="198215" y="125064"/>
                    <a:pt x="207613" y="125064"/>
                    <a:pt x="213455" y="119349"/>
                  </a:cubicBezTo>
                  <a:close/>
                </a:path>
              </a:pathLst>
            </a:custGeom>
            <a:solidFill>
              <a:srgbClr val="F5F547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9459754" y="3606323"/>
              <a:ext cx="217488" cy="211931"/>
            </a:xfrm>
            <a:custGeom>
              <a:avLst/>
              <a:gdLst/>
              <a:ahLst/>
              <a:cxnLst/>
              <a:rect r="r" b="b" t="t" l="l"/>
              <a:pathLst>
                <a:path h="211931" w="217488">
                  <a:moveTo>
                    <a:pt x="213201" y="119349"/>
                  </a:moveTo>
                  <a:cubicBezTo>
                    <a:pt x="218916" y="113634"/>
                    <a:pt x="218916" y="104236"/>
                    <a:pt x="213201" y="98394"/>
                  </a:cubicBezTo>
                  <a:lnTo>
                    <a:pt x="119221" y="4287"/>
                  </a:lnTo>
                  <a:cubicBezTo>
                    <a:pt x="113507" y="-1428"/>
                    <a:pt x="104108" y="-1428"/>
                    <a:pt x="98266" y="4287"/>
                  </a:cubicBezTo>
                  <a:lnTo>
                    <a:pt x="4286" y="98394"/>
                  </a:lnTo>
                  <a:cubicBezTo>
                    <a:pt x="-1429" y="104109"/>
                    <a:pt x="-1429" y="113507"/>
                    <a:pt x="4286" y="119349"/>
                  </a:cubicBezTo>
                  <a:cubicBezTo>
                    <a:pt x="10001" y="125191"/>
                    <a:pt x="19399" y="125064"/>
                    <a:pt x="25241" y="119349"/>
                  </a:cubicBezTo>
                  <a:lnTo>
                    <a:pt x="94075" y="50515"/>
                  </a:lnTo>
                  <a:lnTo>
                    <a:pt x="94075" y="211932"/>
                  </a:lnTo>
                  <a:lnTo>
                    <a:pt x="123666" y="211932"/>
                  </a:lnTo>
                  <a:lnTo>
                    <a:pt x="123666" y="50515"/>
                  </a:lnTo>
                  <a:lnTo>
                    <a:pt x="192500" y="119349"/>
                  </a:lnTo>
                  <a:cubicBezTo>
                    <a:pt x="198215" y="125064"/>
                    <a:pt x="207613" y="125064"/>
                    <a:pt x="213456" y="119349"/>
                  </a:cubicBezTo>
                  <a:close/>
                </a:path>
              </a:pathLst>
            </a:custGeom>
            <a:solidFill>
              <a:srgbClr val="F5F547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986682" y="3522599"/>
              <a:ext cx="217488" cy="211931"/>
            </a:xfrm>
            <a:custGeom>
              <a:avLst/>
              <a:gdLst/>
              <a:ahLst/>
              <a:cxnLst/>
              <a:rect r="r" b="b" t="t" l="l"/>
              <a:pathLst>
                <a:path h="211931" w="217488">
                  <a:moveTo>
                    <a:pt x="4287" y="92583"/>
                  </a:moveTo>
                  <a:cubicBezTo>
                    <a:pt x="-1429" y="98298"/>
                    <a:pt x="-1429" y="107696"/>
                    <a:pt x="4287" y="113538"/>
                  </a:cubicBezTo>
                  <a:lnTo>
                    <a:pt x="98267" y="207645"/>
                  </a:lnTo>
                  <a:cubicBezTo>
                    <a:pt x="103981" y="213360"/>
                    <a:pt x="113380" y="213360"/>
                    <a:pt x="119221" y="207645"/>
                  </a:cubicBezTo>
                  <a:lnTo>
                    <a:pt x="213202" y="113538"/>
                  </a:lnTo>
                  <a:cubicBezTo>
                    <a:pt x="218917" y="107823"/>
                    <a:pt x="218917" y="98425"/>
                    <a:pt x="213202" y="92583"/>
                  </a:cubicBezTo>
                  <a:cubicBezTo>
                    <a:pt x="207487" y="86741"/>
                    <a:pt x="198089" y="86868"/>
                    <a:pt x="192246" y="92583"/>
                  </a:cubicBezTo>
                  <a:lnTo>
                    <a:pt x="123413" y="161417"/>
                  </a:lnTo>
                  <a:lnTo>
                    <a:pt x="123413" y="0"/>
                  </a:lnTo>
                  <a:lnTo>
                    <a:pt x="93821" y="0"/>
                  </a:lnTo>
                  <a:lnTo>
                    <a:pt x="93821" y="161417"/>
                  </a:lnTo>
                  <a:lnTo>
                    <a:pt x="24988" y="92583"/>
                  </a:lnTo>
                  <a:cubicBezTo>
                    <a:pt x="19273" y="86868"/>
                    <a:pt x="9875" y="86868"/>
                    <a:pt x="4032" y="92583"/>
                  </a:cubicBezTo>
                  <a:close/>
                </a:path>
              </a:pathLst>
            </a:custGeom>
            <a:solidFill>
              <a:srgbClr val="F5F547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63575" y="6569075"/>
              <a:ext cx="19050" cy="657225"/>
            </a:xfrm>
            <a:custGeom>
              <a:avLst/>
              <a:gdLst/>
              <a:ahLst/>
              <a:cxnLst/>
              <a:rect r="r" b="b" t="t" l="l"/>
              <a:pathLst>
                <a:path h="657225" w="19050">
                  <a:moveTo>
                    <a:pt x="0" y="0"/>
                  </a:moveTo>
                  <a:lnTo>
                    <a:pt x="19050" y="0"/>
                  </a:lnTo>
                  <a:lnTo>
                    <a:pt x="19050" y="657225"/>
                  </a:lnTo>
                  <a:lnTo>
                    <a:pt x="0" y="657225"/>
                  </a:lnTo>
                  <a:close/>
                </a:path>
              </a:pathLst>
            </a:custGeom>
            <a:solidFill>
              <a:srgbClr val="F5F547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250326" y="601935"/>
            <a:ext cx="9257498" cy="781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8"/>
              </a:lnSpc>
            </a:pPr>
            <a:r>
              <a:rPr lang="en-US" sz="4548" spc="68">
                <a:solidFill>
                  <a:srgbClr val="FEFEFE"/>
                </a:solidFill>
                <a:latin typeface="Open Sans 1"/>
                <a:ea typeface="Open Sans 1"/>
                <a:cs typeface="Open Sans 1"/>
                <a:sym typeface="Open Sans 1"/>
              </a:rPr>
              <a:t>Integration Timeline for Synergies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361478" y="6075268"/>
            <a:ext cx="889618" cy="1134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4"/>
              </a:lnSpc>
            </a:pPr>
            <a:r>
              <a:rPr lang="en-US" sz="2352" spc="35">
                <a:solidFill>
                  <a:srgbClr val="FEFEFE"/>
                </a:solidFill>
                <a:latin typeface="Open Sans 1"/>
                <a:ea typeface="Open Sans 1"/>
                <a:cs typeface="Open Sans 1"/>
                <a:sym typeface="Open Sans 1"/>
              </a:rPr>
              <a:t>Year 1</a:t>
            </a:r>
          </a:p>
          <a:p>
            <a:pPr algn="ctr">
              <a:lnSpc>
                <a:spcPts val="3436"/>
              </a:lnSpc>
            </a:pPr>
            <a:r>
              <a:rPr lang="en-US" sz="1882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</a:p>
          <a:p>
            <a:pPr algn="ctr">
              <a:lnSpc>
                <a:spcPts val="2299"/>
              </a:lnSpc>
            </a:pPr>
            <a:r>
              <a:rPr lang="en-US" sz="1882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delivery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435980" y="2396986"/>
            <a:ext cx="1579588" cy="1147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4"/>
              </a:lnSpc>
            </a:pPr>
            <a:r>
              <a:rPr lang="en-US" sz="2352" spc="35">
                <a:solidFill>
                  <a:srgbClr val="FEFEFE"/>
                </a:solidFill>
                <a:latin typeface="Open Sans 1"/>
                <a:ea typeface="Open Sans 1"/>
                <a:cs typeface="Open Sans 1"/>
                <a:sym typeface="Open Sans 1"/>
              </a:rPr>
              <a:t>H1 Targets</a:t>
            </a:r>
          </a:p>
          <a:p>
            <a:pPr algn="ctr">
              <a:lnSpc>
                <a:spcPts val="2405"/>
              </a:lnSpc>
            </a:pPr>
            <a:r>
              <a:rPr lang="en-US" sz="1882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Capture</a:t>
            </a:r>
            <a:r>
              <a:rPr lang="en-US" sz="1882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882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quick synergies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29269" y="2815794"/>
            <a:ext cx="63327" cy="410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1882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85198" y="5982313"/>
            <a:ext cx="1015437" cy="445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4"/>
              </a:lnSpc>
            </a:pPr>
            <a:r>
              <a:rPr lang="en-US" sz="2352" spc="35">
                <a:solidFill>
                  <a:srgbClr val="FEFEFE"/>
                </a:solidFill>
                <a:latin typeface="Open Sans 1"/>
                <a:ea typeface="Open Sans 1"/>
                <a:cs typeface="Open Sans 1"/>
                <a:sym typeface="Open Sans 1"/>
              </a:rPr>
              <a:t>Year 2+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110783" y="6401120"/>
            <a:ext cx="63327" cy="410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1882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738814" y="6608376"/>
            <a:ext cx="2223268" cy="296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9"/>
              </a:lnSpc>
            </a:pPr>
            <a:r>
              <a:rPr lang="en-US" sz="1882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Integratesales and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537864" y="6515420"/>
            <a:ext cx="2195757" cy="296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9"/>
              </a:lnSpc>
            </a:pPr>
            <a:r>
              <a:rPr lang="en-US" sz="1882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Scaleplatformand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685172" y="6807561"/>
            <a:ext cx="1831612" cy="296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9"/>
              </a:lnSpc>
            </a:pPr>
            <a:r>
              <a:rPr lang="en-US" sz="1882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expand margins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596936" y="9027877"/>
            <a:ext cx="2029025" cy="320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7"/>
              </a:lnSpc>
            </a:pPr>
            <a:r>
              <a:rPr lang="en-US" b="true" sz="1819">
                <a:solidFill>
                  <a:srgbClr val="BFBFB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Judge Takeaway:</a:t>
            </a:r>
            <a:r>
              <a:rPr lang="en-US" sz="1819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250326" y="8129260"/>
            <a:ext cx="12154715" cy="315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7"/>
              </a:lnSpc>
            </a:pPr>
            <a:r>
              <a:rPr lang="en-US" sz="1819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Our phased approach ensures rapid realization of initial synergies and a clear path to long-term value creation.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570619" y="9018788"/>
            <a:ext cx="4694117" cy="32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i="true">
                <a:solidFill>
                  <a:srgbClr val="BFBFBF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“Synergies are real, fast, and measurable.”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67478" y="4869744"/>
            <a:ext cx="1707146" cy="372070"/>
            <a:chOff x="0" y="0"/>
            <a:chExt cx="1485900" cy="3238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85900" cy="323850"/>
            </a:xfrm>
            <a:custGeom>
              <a:avLst/>
              <a:gdLst/>
              <a:ahLst/>
              <a:cxnLst/>
              <a:rect r="r" b="b" t="t" l="l"/>
              <a:pathLst>
                <a:path h="323850" w="1485900">
                  <a:moveTo>
                    <a:pt x="0" y="306705"/>
                  </a:moveTo>
                  <a:lnTo>
                    <a:pt x="0" y="17145"/>
                  </a:lnTo>
                  <a:cubicBezTo>
                    <a:pt x="0" y="14859"/>
                    <a:pt x="381" y="12700"/>
                    <a:pt x="1270" y="10541"/>
                  </a:cubicBezTo>
                  <a:cubicBezTo>
                    <a:pt x="2159" y="8382"/>
                    <a:pt x="3429" y="6604"/>
                    <a:pt x="5080" y="5080"/>
                  </a:cubicBezTo>
                  <a:cubicBezTo>
                    <a:pt x="6731" y="3556"/>
                    <a:pt x="8509" y="2159"/>
                    <a:pt x="10541" y="1270"/>
                  </a:cubicBezTo>
                  <a:cubicBezTo>
                    <a:pt x="12573" y="381"/>
                    <a:pt x="14859" y="0"/>
                    <a:pt x="17145" y="0"/>
                  </a:cubicBezTo>
                  <a:lnTo>
                    <a:pt x="1468755" y="0"/>
                  </a:lnTo>
                  <a:cubicBezTo>
                    <a:pt x="1471041" y="0"/>
                    <a:pt x="1473200" y="381"/>
                    <a:pt x="1475359" y="1270"/>
                  </a:cubicBezTo>
                  <a:cubicBezTo>
                    <a:pt x="1477518" y="2159"/>
                    <a:pt x="1479296" y="3429"/>
                    <a:pt x="1480947" y="4953"/>
                  </a:cubicBezTo>
                  <a:cubicBezTo>
                    <a:pt x="1482598" y="6477"/>
                    <a:pt x="1483741" y="8382"/>
                    <a:pt x="1484630" y="10541"/>
                  </a:cubicBezTo>
                  <a:cubicBezTo>
                    <a:pt x="1485519" y="12700"/>
                    <a:pt x="1485900" y="14859"/>
                    <a:pt x="1485900" y="17145"/>
                  </a:cubicBezTo>
                  <a:lnTo>
                    <a:pt x="1485900" y="306705"/>
                  </a:lnTo>
                  <a:cubicBezTo>
                    <a:pt x="1485900" y="308991"/>
                    <a:pt x="1485519" y="311150"/>
                    <a:pt x="1484630" y="313309"/>
                  </a:cubicBezTo>
                  <a:cubicBezTo>
                    <a:pt x="1483741" y="315468"/>
                    <a:pt x="1482471" y="317246"/>
                    <a:pt x="1480947" y="318897"/>
                  </a:cubicBezTo>
                  <a:cubicBezTo>
                    <a:pt x="1479423" y="320548"/>
                    <a:pt x="1477518" y="321691"/>
                    <a:pt x="1475359" y="322580"/>
                  </a:cubicBezTo>
                  <a:cubicBezTo>
                    <a:pt x="1473200" y="323469"/>
                    <a:pt x="1471041" y="323850"/>
                    <a:pt x="1468755" y="323850"/>
                  </a:cubicBezTo>
                  <a:lnTo>
                    <a:pt x="17145" y="323850"/>
                  </a:lnTo>
                  <a:cubicBezTo>
                    <a:pt x="14859" y="323850"/>
                    <a:pt x="12700" y="323469"/>
                    <a:pt x="10541" y="322580"/>
                  </a:cubicBezTo>
                  <a:cubicBezTo>
                    <a:pt x="8382" y="321691"/>
                    <a:pt x="6604" y="320421"/>
                    <a:pt x="5080" y="318770"/>
                  </a:cubicBezTo>
                  <a:cubicBezTo>
                    <a:pt x="3556" y="317119"/>
                    <a:pt x="2159" y="315341"/>
                    <a:pt x="1270" y="313309"/>
                  </a:cubicBezTo>
                  <a:cubicBezTo>
                    <a:pt x="381" y="311277"/>
                    <a:pt x="0" y="308991"/>
                    <a:pt x="0" y="306705"/>
                  </a:cubicBezTo>
                  <a:close/>
                </a:path>
              </a:pathLst>
            </a:custGeom>
            <a:solidFill>
              <a:srgbClr val="49490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267478" y="7364804"/>
            <a:ext cx="1258473" cy="372070"/>
            <a:chOff x="0" y="0"/>
            <a:chExt cx="1095375" cy="3238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5375" cy="323850"/>
            </a:xfrm>
            <a:custGeom>
              <a:avLst/>
              <a:gdLst/>
              <a:ahLst/>
              <a:cxnLst/>
              <a:rect r="r" b="b" t="t" l="l"/>
              <a:pathLst>
                <a:path h="323850" w="1095375">
                  <a:moveTo>
                    <a:pt x="0" y="306705"/>
                  </a:moveTo>
                  <a:lnTo>
                    <a:pt x="0" y="17145"/>
                  </a:lnTo>
                  <a:cubicBezTo>
                    <a:pt x="0" y="14859"/>
                    <a:pt x="381" y="12700"/>
                    <a:pt x="1270" y="10541"/>
                  </a:cubicBezTo>
                  <a:cubicBezTo>
                    <a:pt x="2159" y="8382"/>
                    <a:pt x="3429" y="6604"/>
                    <a:pt x="5080" y="5080"/>
                  </a:cubicBezTo>
                  <a:cubicBezTo>
                    <a:pt x="6731" y="3556"/>
                    <a:pt x="8509" y="2159"/>
                    <a:pt x="10541" y="1270"/>
                  </a:cubicBezTo>
                  <a:cubicBezTo>
                    <a:pt x="12573" y="381"/>
                    <a:pt x="14859" y="0"/>
                    <a:pt x="17145" y="0"/>
                  </a:cubicBezTo>
                  <a:lnTo>
                    <a:pt x="1078230" y="0"/>
                  </a:lnTo>
                  <a:cubicBezTo>
                    <a:pt x="1080516" y="0"/>
                    <a:pt x="1082675" y="381"/>
                    <a:pt x="1084834" y="1270"/>
                  </a:cubicBezTo>
                  <a:cubicBezTo>
                    <a:pt x="1086993" y="2159"/>
                    <a:pt x="1088771" y="3429"/>
                    <a:pt x="1090422" y="4953"/>
                  </a:cubicBezTo>
                  <a:cubicBezTo>
                    <a:pt x="1092073" y="6477"/>
                    <a:pt x="1093216" y="8382"/>
                    <a:pt x="1094105" y="10541"/>
                  </a:cubicBezTo>
                  <a:cubicBezTo>
                    <a:pt x="1094994" y="12700"/>
                    <a:pt x="1095375" y="14859"/>
                    <a:pt x="1095375" y="17145"/>
                  </a:cubicBezTo>
                  <a:lnTo>
                    <a:pt x="1095375" y="306705"/>
                  </a:lnTo>
                  <a:cubicBezTo>
                    <a:pt x="1095375" y="308991"/>
                    <a:pt x="1094994" y="311150"/>
                    <a:pt x="1094105" y="313309"/>
                  </a:cubicBezTo>
                  <a:cubicBezTo>
                    <a:pt x="1093216" y="315468"/>
                    <a:pt x="1091946" y="317246"/>
                    <a:pt x="1090422" y="318897"/>
                  </a:cubicBezTo>
                  <a:cubicBezTo>
                    <a:pt x="1088898" y="320548"/>
                    <a:pt x="1086993" y="321691"/>
                    <a:pt x="1084834" y="322580"/>
                  </a:cubicBezTo>
                  <a:cubicBezTo>
                    <a:pt x="1082675" y="323469"/>
                    <a:pt x="1080516" y="323850"/>
                    <a:pt x="1078230" y="323850"/>
                  </a:cubicBezTo>
                  <a:lnTo>
                    <a:pt x="17145" y="323850"/>
                  </a:lnTo>
                  <a:cubicBezTo>
                    <a:pt x="14859" y="323850"/>
                    <a:pt x="12700" y="323469"/>
                    <a:pt x="10541" y="322580"/>
                  </a:cubicBezTo>
                  <a:cubicBezTo>
                    <a:pt x="8382" y="321691"/>
                    <a:pt x="6604" y="320421"/>
                    <a:pt x="5080" y="318770"/>
                  </a:cubicBezTo>
                  <a:cubicBezTo>
                    <a:pt x="3556" y="317119"/>
                    <a:pt x="2159" y="315341"/>
                    <a:pt x="1270" y="313309"/>
                  </a:cubicBezTo>
                  <a:cubicBezTo>
                    <a:pt x="381" y="311277"/>
                    <a:pt x="0" y="308991"/>
                    <a:pt x="0" y="306705"/>
                  </a:cubicBezTo>
                  <a:close/>
                </a:path>
              </a:pathLst>
            </a:custGeom>
            <a:solidFill>
              <a:srgbClr val="49490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267478" y="1674316"/>
            <a:ext cx="1192814" cy="372070"/>
            <a:chOff x="0" y="0"/>
            <a:chExt cx="1038225" cy="3238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8225" cy="323850"/>
            </a:xfrm>
            <a:custGeom>
              <a:avLst/>
              <a:gdLst/>
              <a:ahLst/>
              <a:cxnLst/>
              <a:rect r="r" b="b" t="t" l="l"/>
              <a:pathLst>
                <a:path h="323850" w="1038225">
                  <a:moveTo>
                    <a:pt x="0" y="306705"/>
                  </a:moveTo>
                  <a:lnTo>
                    <a:pt x="0" y="17145"/>
                  </a:lnTo>
                  <a:cubicBezTo>
                    <a:pt x="0" y="14859"/>
                    <a:pt x="381" y="12700"/>
                    <a:pt x="1270" y="10541"/>
                  </a:cubicBezTo>
                  <a:cubicBezTo>
                    <a:pt x="2159" y="8382"/>
                    <a:pt x="3429" y="6604"/>
                    <a:pt x="5080" y="5080"/>
                  </a:cubicBezTo>
                  <a:cubicBezTo>
                    <a:pt x="6731" y="3556"/>
                    <a:pt x="8509" y="2159"/>
                    <a:pt x="10541" y="1270"/>
                  </a:cubicBezTo>
                  <a:cubicBezTo>
                    <a:pt x="12573" y="381"/>
                    <a:pt x="14859" y="0"/>
                    <a:pt x="17145" y="0"/>
                  </a:cubicBezTo>
                  <a:lnTo>
                    <a:pt x="1021080" y="0"/>
                  </a:lnTo>
                  <a:cubicBezTo>
                    <a:pt x="1023366" y="0"/>
                    <a:pt x="1025525" y="381"/>
                    <a:pt x="1027684" y="1270"/>
                  </a:cubicBezTo>
                  <a:cubicBezTo>
                    <a:pt x="1029843" y="2159"/>
                    <a:pt x="1031621" y="3429"/>
                    <a:pt x="1033272" y="4953"/>
                  </a:cubicBezTo>
                  <a:cubicBezTo>
                    <a:pt x="1034923" y="6477"/>
                    <a:pt x="1036066" y="8382"/>
                    <a:pt x="1036955" y="10541"/>
                  </a:cubicBezTo>
                  <a:cubicBezTo>
                    <a:pt x="1037844" y="12700"/>
                    <a:pt x="1038225" y="14859"/>
                    <a:pt x="1038225" y="17145"/>
                  </a:cubicBezTo>
                  <a:lnTo>
                    <a:pt x="1038225" y="306705"/>
                  </a:lnTo>
                  <a:cubicBezTo>
                    <a:pt x="1038225" y="308991"/>
                    <a:pt x="1037844" y="311150"/>
                    <a:pt x="1036955" y="313309"/>
                  </a:cubicBezTo>
                  <a:cubicBezTo>
                    <a:pt x="1036066" y="315468"/>
                    <a:pt x="1034796" y="317246"/>
                    <a:pt x="1033272" y="318897"/>
                  </a:cubicBezTo>
                  <a:cubicBezTo>
                    <a:pt x="1031748" y="320548"/>
                    <a:pt x="1029843" y="321691"/>
                    <a:pt x="1027684" y="322580"/>
                  </a:cubicBezTo>
                  <a:cubicBezTo>
                    <a:pt x="1025525" y="323469"/>
                    <a:pt x="1023366" y="323850"/>
                    <a:pt x="1021080" y="323850"/>
                  </a:cubicBezTo>
                  <a:lnTo>
                    <a:pt x="17145" y="323850"/>
                  </a:lnTo>
                  <a:cubicBezTo>
                    <a:pt x="14859" y="323850"/>
                    <a:pt x="12700" y="323469"/>
                    <a:pt x="10541" y="322580"/>
                  </a:cubicBezTo>
                  <a:cubicBezTo>
                    <a:pt x="8382" y="321691"/>
                    <a:pt x="6604" y="320421"/>
                    <a:pt x="5080" y="318770"/>
                  </a:cubicBezTo>
                  <a:cubicBezTo>
                    <a:pt x="3556" y="317119"/>
                    <a:pt x="2159" y="315341"/>
                    <a:pt x="1270" y="313309"/>
                  </a:cubicBezTo>
                  <a:cubicBezTo>
                    <a:pt x="381" y="311277"/>
                    <a:pt x="0" y="308991"/>
                    <a:pt x="0" y="306705"/>
                  </a:cubicBezTo>
                  <a:close/>
                </a:path>
              </a:pathLst>
            </a:custGeom>
            <a:solidFill>
              <a:srgbClr val="49490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267478" y="8984404"/>
            <a:ext cx="21886" cy="766027"/>
            <a:chOff x="0" y="0"/>
            <a:chExt cx="19050" cy="6667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050" cy="666750"/>
            </a:xfrm>
            <a:custGeom>
              <a:avLst/>
              <a:gdLst/>
              <a:ahLst/>
              <a:cxnLst/>
              <a:rect r="r" b="b" t="t" l="l"/>
              <a:pathLst>
                <a:path h="666750" w="19050">
                  <a:moveTo>
                    <a:pt x="0" y="0"/>
                  </a:moveTo>
                  <a:lnTo>
                    <a:pt x="19050" y="0"/>
                  </a:lnTo>
                  <a:lnTo>
                    <a:pt x="19050" y="666750"/>
                  </a:lnTo>
                  <a:lnTo>
                    <a:pt x="0" y="666750"/>
                  </a:lnTo>
                  <a:close/>
                </a:path>
              </a:pathLst>
            </a:custGeom>
            <a:solidFill>
              <a:srgbClr val="F5F547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300307" y="3698817"/>
            <a:ext cx="65659" cy="65659"/>
            <a:chOff x="0" y="0"/>
            <a:chExt cx="57150" cy="571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BFBFB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300307" y="4081830"/>
            <a:ext cx="65659" cy="65659"/>
            <a:chOff x="0" y="0"/>
            <a:chExt cx="57150" cy="571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BFBFB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300307" y="4464844"/>
            <a:ext cx="65659" cy="65659"/>
            <a:chOff x="0" y="0"/>
            <a:chExt cx="57150" cy="571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BFBFB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300307" y="6084444"/>
            <a:ext cx="65659" cy="65659"/>
            <a:chOff x="0" y="0"/>
            <a:chExt cx="57150" cy="571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BFBFB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3300307" y="6467457"/>
            <a:ext cx="65659" cy="65659"/>
            <a:chOff x="0" y="0"/>
            <a:chExt cx="57150" cy="571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BFBFB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395695" y="1674316"/>
            <a:ext cx="1739976" cy="372070"/>
            <a:chOff x="0" y="0"/>
            <a:chExt cx="1514475" cy="3238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14475" cy="323850"/>
            </a:xfrm>
            <a:custGeom>
              <a:avLst/>
              <a:gdLst/>
              <a:ahLst/>
              <a:cxnLst/>
              <a:rect r="r" b="b" t="t" l="l"/>
              <a:pathLst>
                <a:path h="323850" w="1514475">
                  <a:moveTo>
                    <a:pt x="0" y="306705"/>
                  </a:moveTo>
                  <a:lnTo>
                    <a:pt x="0" y="17145"/>
                  </a:lnTo>
                  <a:cubicBezTo>
                    <a:pt x="0" y="14859"/>
                    <a:pt x="381" y="12700"/>
                    <a:pt x="1270" y="10541"/>
                  </a:cubicBezTo>
                  <a:cubicBezTo>
                    <a:pt x="2159" y="8382"/>
                    <a:pt x="3429" y="6604"/>
                    <a:pt x="5080" y="5080"/>
                  </a:cubicBezTo>
                  <a:cubicBezTo>
                    <a:pt x="6731" y="3556"/>
                    <a:pt x="8509" y="2159"/>
                    <a:pt x="10541" y="1270"/>
                  </a:cubicBezTo>
                  <a:cubicBezTo>
                    <a:pt x="12573" y="381"/>
                    <a:pt x="14859" y="0"/>
                    <a:pt x="17145" y="0"/>
                  </a:cubicBezTo>
                  <a:lnTo>
                    <a:pt x="1497330" y="0"/>
                  </a:lnTo>
                  <a:cubicBezTo>
                    <a:pt x="1499616" y="0"/>
                    <a:pt x="1501775" y="381"/>
                    <a:pt x="1503934" y="1270"/>
                  </a:cubicBezTo>
                  <a:cubicBezTo>
                    <a:pt x="1506093" y="2159"/>
                    <a:pt x="1507871" y="3429"/>
                    <a:pt x="1509522" y="4953"/>
                  </a:cubicBezTo>
                  <a:cubicBezTo>
                    <a:pt x="1511173" y="6477"/>
                    <a:pt x="1512316" y="8382"/>
                    <a:pt x="1513205" y="10541"/>
                  </a:cubicBezTo>
                  <a:cubicBezTo>
                    <a:pt x="1514094" y="12700"/>
                    <a:pt x="1514475" y="14859"/>
                    <a:pt x="1514475" y="17145"/>
                  </a:cubicBezTo>
                  <a:lnTo>
                    <a:pt x="1514475" y="306705"/>
                  </a:lnTo>
                  <a:cubicBezTo>
                    <a:pt x="1514475" y="308991"/>
                    <a:pt x="1514094" y="311150"/>
                    <a:pt x="1513205" y="313309"/>
                  </a:cubicBezTo>
                  <a:cubicBezTo>
                    <a:pt x="1512316" y="315468"/>
                    <a:pt x="1511046" y="317246"/>
                    <a:pt x="1509522" y="318897"/>
                  </a:cubicBezTo>
                  <a:cubicBezTo>
                    <a:pt x="1507998" y="320548"/>
                    <a:pt x="1506093" y="321691"/>
                    <a:pt x="1503934" y="322580"/>
                  </a:cubicBezTo>
                  <a:cubicBezTo>
                    <a:pt x="1501775" y="323469"/>
                    <a:pt x="1499616" y="323850"/>
                    <a:pt x="1497330" y="323850"/>
                  </a:cubicBezTo>
                  <a:lnTo>
                    <a:pt x="17145" y="323850"/>
                  </a:lnTo>
                  <a:cubicBezTo>
                    <a:pt x="14859" y="323850"/>
                    <a:pt x="12700" y="323469"/>
                    <a:pt x="10541" y="322580"/>
                  </a:cubicBezTo>
                  <a:cubicBezTo>
                    <a:pt x="8382" y="321691"/>
                    <a:pt x="6604" y="320421"/>
                    <a:pt x="5080" y="318770"/>
                  </a:cubicBezTo>
                  <a:cubicBezTo>
                    <a:pt x="3556" y="317119"/>
                    <a:pt x="2159" y="315341"/>
                    <a:pt x="1270" y="313309"/>
                  </a:cubicBezTo>
                  <a:cubicBezTo>
                    <a:pt x="381" y="311277"/>
                    <a:pt x="0" y="308991"/>
                    <a:pt x="0" y="306705"/>
                  </a:cubicBezTo>
                  <a:close/>
                </a:path>
              </a:pathLst>
            </a:custGeom>
            <a:solidFill>
              <a:srgbClr val="494904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395695" y="2265252"/>
            <a:ext cx="437730" cy="448673"/>
            <a:chOff x="0" y="0"/>
            <a:chExt cx="381000" cy="39052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81127" cy="390652"/>
            </a:xfrm>
            <a:custGeom>
              <a:avLst/>
              <a:gdLst/>
              <a:ahLst/>
              <a:cxnLst/>
              <a:rect r="r" b="b" t="t" l="l"/>
              <a:pathLst>
                <a:path h="390652" w="381127">
                  <a:moveTo>
                    <a:pt x="0" y="369062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541" y="2667"/>
                    <a:pt x="13208" y="1651"/>
                  </a:cubicBezTo>
                  <a:cubicBezTo>
                    <a:pt x="15875" y="635"/>
                    <a:pt x="18542" y="0"/>
                    <a:pt x="21463" y="0"/>
                  </a:cubicBezTo>
                  <a:lnTo>
                    <a:pt x="359537" y="0"/>
                  </a:lnTo>
                  <a:cubicBezTo>
                    <a:pt x="362331" y="0"/>
                    <a:pt x="365125" y="508"/>
                    <a:pt x="367792" y="1651"/>
                  </a:cubicBezTo>
                  <a:cubicBezTo>
                    <a:pt x="370459" y="2794"/>
                    <a:pt x="372745" y="4318"/>
                    <a:pt x="374777" y="6350"/>
                  </a:cubicBezTo>
                  <a:cubicBezTo>
                    <a:pt x="376809" y="8382"/>
                    <a:pt x="378333" y="10668"/>
                    <a:pt x="379476" y="13335"/>
                  </a:cubicBezTo>
                  <a:cubicBezTo>
                    <a:pt x="380619" y="16002"/>
                    <a:pt x="381127" y="18669"/>
                    <a:pt x="381127" y="21590"/>
                  </a:cubicBezTo>
                  <a:lnTo>
                    <a:pt x="381127" y="369062"/>
                  </a:lnTo>
                  <a:cubicBezTo>
                    <a:pt x="381127" y="371856"/>
                    <a:pt x="380619" y="374650"/>
                    <a:pt x="379476" y="377317"/>
                  </a:cubicBezTo>
                  <a:cubicBezTo>
                    <a:pt x="378333" y="379984"/>
                    <a:pt x="376809" y="382270"/>
                    <a:pt x="374777" y="384302"/>
                  </a:cubicBezTo>
                  <a:cubicBezTo>
                    <a:pt x="372745" y="386334"/>
                    <a:pt x="370459" y="387858"/>
                    <a:pt x="367792" y="389001"/>
                  </a:cubicBezTo>
                  <a:cubicBezTo>
                    <a:pt x="365125" y="390144"/>
                    <a:pt x="362458" y="390652"/>
                    <a:pt x="359537" y="390652"/>
                  </a:cubicBezTo>
                  <a:lnTo>
                    <a:pt x="21463" y="390652"/>
                  </a:lnTo>
                  <a:cubicBezTo>
                    <a:pt x="18669" y="390652"/>
                    <a:pt x="15875" y="390144"/>
                    <a:pt x="13208" y="389001"/>
                  </a:cubicBezTo>
                  <a:cubicBezTo>
                    <a:pt x="10541" y="387858"/>
                    <a:pt x="8255" y="386334"/>
                    <a:pt x="6223" y="384302"/>
                  </a:cubicBezTo>
                  <a:cubicBezTo>
                    <a:pt x="4191" y="382270"/>
                    <a:pt x="2667" y="379984"/>
                    <a:pt x="1524" y="377317"/>
                  </a:cubicBezTo>
                  <a:cubicBezTo>
                    <a:pt x="381" y="374650"/>
                    <a:pt x="0" y="371983"/>
                    <a:pt x="0" y="369062"/>
                  </a:cubicBezTo>
                  <a:close/>
                </a:path>
              </a:pathLst>
            </a:custGeom>
            <a:solidFill>
              <a:srgbClr val="3E3E3E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395695" y="3862965"/>
            <a:ext cx="437730" cy="437730"/>
            <a:chOff x="0" y="0"/>
            <a:chExt cx="381000" cy="381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81127" cy="381127"/>
            </a:xfrm>
            <a:custGeom>
              <a:avLst/>
              <a:gdLst/>
              <a:ahLst/>
              <a:cxnLst/>
              <a:rect r="r" b="b" t="t" l="l"/>
              <a:pathLst>
                <a:path h="381127" w="381127">
                  <a:moveTo>
                    <a:pt x="0" y="3595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541" y="2667"/>
                    <a:pt x="13208" y="1651"/>
                  </a:cubicBezTo>
                  <a:cubicBezTo>
                    <a:pt x="15875" y="635"/>
                    <a:pt x="18542" y="0"/>
                    <a:pt x="21463" y="0"/>
                  </a:cubicBezTo>
                  <a:lnTo>
                    <a:pt x="359537" y="0"/>
                  </a:lnTo>
                  <a:cubicBezTo>
                    <a:pt x="362331" y="0"/>
                    <a:pt x="365125" y="508"/>
                    <a:pt x="367792" y="1651"/>
                  </a:cubicBezTo>
                  <a:cubicBezTo>
                    <a:pt x="370459" y="2794"/>
                    <a:pt x="372745" y="4318"/>
                    <a:pt x="374777" y="6350"/>
                  </a:cubicBezTo>
                  <a:cubicBezTo>
                    <a:pt x="376809" y="8382"/>
                    <a:pt x="378333" y="10668"/>
                    <a:pt x="379476" y="13335"/>
                  </a:cubicBezTo>
                  <a:cubicBezTo>
                    <a:pt x="380619" y="16002"/>
                    <a:pt x="381127" y="18669"/>
                    <a:pt x="381127" y="21590"/>
                  </a:cubicBezTo>
                  <a:lnTo>
                    <a:pt x="381127" y="359537"/>
                  </a:lnTo>
                  <a:cubicBezTo>
                    <a:pt x="381127" y="362331"/>
                    <a:pt x="380619" y="365125"/>
                    <a:pt x="379476" y="367792"/>
                  </a:cubicBezTo>
                  <a:cubicBezTo>
                    <a:pt x="378333" y="370459"/>
                    <a:pt x="376809" y="372745"/>
                    <a:pt x="374777" y="374777"/>
                  </a:cubicBezTo>
                  <a:cubicBezTo>
                    <a:pt x="372745" y="376809"/>
                    <a:pt x="370459" y="378333"/>
                    <a:pt x="367792" y="379476"/>
                  </a:cubicBezTo>
                  <a:cubicBezTo>
                    <a:pt x="365125" y="380619"/>
                    <a:pt x="362458" y="381127"/>
                    <a:pt x="359537" y="381127"/>
                  </a:cubicBezTo>
                  <a:lnTo>
                    <a:pt x="21463" y="381127"/>
                  </a:lnTo>
                  <a:cubicBezTo>
                    <a:pt x="18669" y="381127"/>
                    <a:pt x="15875" y="380619"/>
                    <a:pt x="13208" y="379476"/>
                  </a:cubicBezTo>
                  <a:cubicBezTo>
                    <a:pt x="10541" y="378333"/>
                    <a:pt x="8255" y="376809"/>
                    <a:pt x="6223" y="374777"/>
                  </a:cubicBezTo>
                  <a:cubicBezTo>
                    <a:pt x="4191" y="372745"/>
                    <a:pt x="2667" y="370459"/>
                    <a:pt x="1524" y="367792"/>
                  </a:cubicBezTo>
                  <a:cubicBezTo>
                    <a:pt x="381" y="365125"/>
                    <a:pt x="0" y="362458"/>
                    <a:pt x="0" y="359537"/>
                  </a:cubicBezTo>
                  <a:close/>
                </a:path>
              </a:pathLst>
            </a:custGeom>
            <a:solidFill>
              <a:srgbClr val="3E3E3E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3267478" y="509997"/>
            <a:ext cx="8991090" cy="669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8"/>
              </a:lnSpc>
            </a:pPr>
            <a:r>
              <a:rPr lang="en-US" sz="3877" spc="58">
                <a:solidFill>
                  <a:srgbClr val="FEFEFE"/>
                </a:solidFill>
                <a:latin typeface="Open Sans 1"/>
                <a:ea typeface="Open Sans 1"/>
                <a:cs typeface="Open Sans 1"/>
                <a:sym typeface="Open Sans 1"/>
              </a:rPr>
              <a:t>Financial Assessment &amp; Deal Rationale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385632" y="1724314"/>
            <a:ext cx="974660" cy="224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7"/>
              </a:lnSpc>
            </a:pPr>
            <a:r>
              <a:rPr lang="en-US" sz="1240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KEY METRICS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385632" y="7425744"/>
            <a:ext cx="1040330" cy="224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7"/>
              </a:lnSpc>
            </a:pPr>
            <a:r>
              <a:rPr lang="en-US" sz="1240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INTEGRATION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385632" y="4919741"/>
            <a:ext cx="1495066" cy="224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7"/>
              </a:lnSpc>
            </a:pPr>
            <a:r>
              <a:rPr lang="en-US" sz="1240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FINANCIAL QUALITY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513335" y="1724314"/>
            <a:ext cx="1531846" cy="224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7"/>
              </a:lnSpc>
            </a:pPr>
            <a:r>
              <a:rPr lang="en-US" sz="1240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WHY LOGICIEL WINS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267478" y="2263761"/>
            <a:ext cx="1175906" cy="27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1"/>
              </a:lnSpc>
            </a:pPr>
            <a:r>
              <a:rPr lang="en-US" b="true" sz="1551">
                <a:solidFill>
                  <a:srgbClr val="BFBFB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Deal Value:</a:t>
            </a:r>
            <a:r>
              <a:rPr lang="en-US" sz="1551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562945" y="9212721"/>
            <a:ext cx="1729645" cy="27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1"/>
              </a:lnSpc>
            </a:pPr>
            <a:r>
              <a:rPr lang="en-US" b="true" sz="1551">
                <a:solidFill>
                  <a:srgbClr val="BFBFB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Judge Takeaway:</a:t>
            </a:r>
            <a:r>
              <a:rPr lang="en-US" sz="1551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420447" y="2263772"/>
            <a:ext cx="940451" cy="295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1"/>
              </a:lnSpc>
            </a:pPr>
            <a:r>
              <a:rPr lang="en-US" sz="1551">
                <a:solidFill>
                  <a:srgbClr val="F5F547"/>
                </a:solidFill>
                <a:latin typeface="Open Sans 2"/>
                <a:ea typeface="Open Sans 2"/>
                <a:cs typeface="Open Sans 2"/>
                <a:sym typeface="Open Sans 2"/>
              </a:rPr>
              <a:t>₹52.39 Cr</a:t>
            </a:r>
            <a:r>
              <a:rPr lang="en-US" sz="1551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254083" y="7954248"/>
            <a:ext cx="4190267" cy="590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1"/>
              </a:lnSpc>
            </a:pPr>
            <a:r>
              <a:rPr lang="en-US" b="true" sz="1551">
                <a:solidFill>
                  <a:srgbClr val="BFBFB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Timeframe:</a:t>
            </a:r>
            <a:r>
              <a:rPr lang="en-US" sz="1551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551">
                <a:solidFill>
                  <a:srgbClr val="F5F547"/>
                </a:solidFill>
                <a:latin typeface="Open Sans 2"/>
                <a:ea typeface="Open Sans 2"/>
                <a:cs typeface="Open Sans 2"/>
                <a:sym typeface="Open Sans 2"/>
              </a:rPr>
              <a:t>Less than 6 months feasible</a:t>
            </a:r>
            <a:r>
              <a:rPr lang="en-US" sz="1551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</a:p>
          <a:p>
            <a:pPr algn="l">
              <a:lnSpc>
                <a:spcPts val="2238"/>
              </a:lnSpc>
            </a:pPr>
            <a:r>
              <a:rPr lang="en-US" sz="1598" i="true">
                <a:solidFill>
                  <a:srgbClr val="BFBFBF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Rapid integration for quick value realization.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582435" y="5865910"/>
            <a:ext cx="5322367" cy="741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5"/>
              </a:lnSpc>
            </a:pPr>
            <a:r>
              <a:rPr lang="en-US" sz="1551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Low earnings volatility, demonstrating financial stability. Strong operating margins, indicating efficient operations.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267478" y="2916156"/>
            <a:ext cx="1010970" cy="434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7"/>
              </a:lnSpc>
            </a:pPr>
            <a:r>
              <a:rPr lang="en-US" b="true" sz="1551">
                <a:solidFill>
                  <a:srgbClr val="BFBFB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Structure: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582435" y="3404082"/>
            <a:ext cx="5374884" cy="1200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7"/>
              </a:lnSpc>
            </a:pPr>
            <a:r>
              <a:rPr lang="en-US" sz="1551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Cash: ₹31.43 Cr (60%)</a:t>
            </a:r>
          </a:p>
          <a:p>
            <a:pPr algn="l">
              <a:lnSpc>
                <a:spcPts val="2154"/>
              </a:lnSpc>
            </a:pPr>
            <a:r>
              <a:rPr lang="en-US" sz="1551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Equity: ₹20.96 Cr (40%)</a:t>
            </a:r>
          </a:p>
          <a:p>
            <a:pPr algn="l">
              <a:lnSpc>
                <a:spcPts val="3877"/>
              </a:lnSpc>
            </a:pPr>
            <a:r>
              <a:rPr lang="en-US" sz="1551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Dilution: </a:t>
            </a:r>
            <a:r>
              <a:rPr lang="en-US" sz="1551">
                <a:solidFill>
                  <a:srgbClr val="F5F547"/>
                </a:solidFill>
                <a:latin typeface="Open Sans 2"/>
                <a:ea typeface="Open Sans 2"/>
                <a:cs typeface="Open Sans 2"/>
                <a:sym typeface="Open Sans 2"/>
              </a:rPr>
              <a:t>~1.1%</a:t>
            </a:r>
            <a:r>
              <a:rPr lang="en-US" sz="1551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 (Minimal impact on existing shareholders)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035360" y="4401949"/>
            <a:ext cx="4738184" cy="618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8"/>
              </a:lnSpc>
            </a:pPr>
            <a:r>
              <a:rPr lang="en-US" sz="1551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Achieves the lowest risk profile combined with the highest feasibility for integration and growth.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035360" y="2804235"/>
            <a:ext cx="5084735" cy="618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8"/>
              </a:lnSpc>
            </a:pPr>
            <a:r>
              <a:rPr lang="en-US" sz="1551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#1 out of 400 companies evaluated, a testament to its market leadership and potential.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254083" y="2581487"/>
            <a:ext cx="4355127" cy="295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8"/>
              </a:lnSpc>
            </a:pPr>
            <a:r>
              <a:rPr lang="en-US" sz="1598" i="true">
                <a:solidFill>
                  <a:srgbClr val="BFBFBF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Well within our ₹180 Cr investment threshold.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245414" y="9213093"/>
            <a:ext cx="3730640" cy="272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8"/>
              </a:lnSpc>
            </a:pPr>
            <a:r>
              <a:rPr lang="en-US" sz="1598" i="true">
                <a:solidFill>
                  <a:srgbClr val="BFBFBF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“This deal is safe, accretive, and smart.”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035360" y="2302809"/>
            <a:ext cx="2232203" cy="344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4"/>
              </a:lnSpc>
            </a:pPr>
            <a:r>
              <a:rPr lang="en-US" sz="1938" spc="29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Top-Ranked Target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035360" y="3900523"/>
            <a:ext cx="4014606" cy="344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4"/>
              </a:lnSpc>
            </a:pPr>
            <a:r>
              <a:rPr lang="en-US" sz="1938" spc="29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Optimized Risk-Feasibility Balance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DAHCsWyVXdY</dc:identifier>
  <dcterms:modified xsi:type="dcterms:W3CDTF">2011-08-01T06:04:30Z</dcterms:modified>
  <cp:revision>1</cp:revision>
  <dc:title>Sector&amp; Business Model Logiciel operates in the IT – Software sector, specializing in enterprise software development, digital transformation, and product engineering.</dc:title>
</cp:coreProperties>
</file>
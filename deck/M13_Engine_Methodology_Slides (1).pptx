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46304"/>
            <a:ext cx="475488" cy="320040"/>
          </a:xfrm>
          <a:prstGeom prst="rect">
            <a:avLst>
              <a:gd name="adj" fmla="val 14286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4630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463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RISKFERA measures earnings quality &amp; financial stability  —  Score: 0–100  |  Higher = Riskier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5303520" cy="32918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591056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01952" y="9875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73552" y="987552"/>
            <a:ext cx="402336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12464" y="9875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316736"/>
            <a:ext cx="5303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316736"/>
            <a:ext cx="64008" cy="4389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167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Profit Variance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01952" y="13167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qtr_profit_var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73552" y="13167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13167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earnings unpredictability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773936"/>
            <a:ext cx="53035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773936"/>
            <a:ext cx="64008" cy="4389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7739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Profit Variance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01952" y="17739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profit_var_3yrs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73552" y="17739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12464" y="17739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long-term profit direction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231136"/>
            <a:ext cx="5303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231136"/>
            <a:ext cx="64008" cy="4389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311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EBITDA Variance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01952" y="22311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ebidt_var_3yrs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73552" y="22311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12464" y="22311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ops health vs accounting effects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688336"/>
            <a:ext cx="53035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2688336"/>
            <a:ext cx="64008" cy="4389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6883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 Margin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01952" y="26883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73552" y="26883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12464" y="26883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fragility &amp; breakeven buffer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145536"/>
            <a:ext cx="5303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145536"/>
            <a:ext cx="64008" cy="4389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1455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01952" y="31455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div_yld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73552" y="31455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12464" y="31455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trap / distress proxy signal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3602736"/>
            <a:ext cx="53035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3602736"/>
            <a:ext cx="64008" cy="4389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60273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3-Year Variance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901952" y="36027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eps_var_3yrs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73552" y="360273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712464" y="36027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value erosion signal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059936"/>
            <a:ext cx="5303520" cy="32918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059936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73552" y="405993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712464" y="4059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79008" y="987552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 VERIFICATION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779008" y="1280160"/>
            <a:ext cx="3182112" cy="694944"/>
          </a:xfrm>
          <a:prstGeom prst="rect">
            <a:avLst/>
          </a:prstGeom>
          <a:solidFill>
            <a:srgbClr val="051A10"/>
          </a:solidFill>
          <a:ln w="12700">
            <a:solidFill>
              <a:srgbClr val="00CC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870448" y="1280160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6620256" y="1371600"/>
            <a:ext cx="0" cy="512064"/>
          </a:xfrm>
          <a:prstGeom prst="line">
            <a:avLst/>
          </a:prstGeom>
          <a:noFill/>
          <a:ln w="12700">
            <a:solidFill>
              <a:srgbClr val="00CC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9984" y="133502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29984" y="159105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earnings, healthy margins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779008" y="2048256"/>
            <a:ext cx="3182112" cy="694944"/>
          </a:xfrm>
          <a:prstGeom prst="rect">
            <a:avLst/>
          </a:prstGeom>
          <a:solidFill>
            <a:srgbClr val="1A140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870448" y="2048256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6620256" y="2139696"/>
            <a:ext cx="0" cy="512064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9984" y="21031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729984" y="235915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volatility, no structural flags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779008" y="2816352"/>
            <a:ext cx="3182112" cy="694944"/>
          </a:xfrm>
          <a:prstGeom prst="rect">
            <a:avLst/>
          </a:prstGeom>
          <a:solidFill>
            <a:srgbClr val="1A0505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870448" y="2816352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6620256" y="2907792"/>
            <a:ext cx="0" cy="512064"/>
          </a:xfrm>
          <a:prstGeom prst="line">
            <a:avLst/>
          </a:prstGeom>
          <a:noFill/>
          <a:ln w="12700">
            <a:solidFill>
              <a:srgbClr val="FF4B4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9984" y="287121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29984" y="31272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collapse + EBITDA erosion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779008" y="3657600"/>
            <a:ext cx="3182112" cy="124358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870448" y="3712464"/>
            <a:ext cx="2999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870448" y="395020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 →  🟢 Low Risk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870448" y="416966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21–40 →  🟡 Moderate Risk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870448" y="438912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41–60 →  🟠 Elevated Risk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870448" y="460857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61+   →  🔴 High Risk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46304"/>
            <a:ext cx="475488" cy="320040"/>
          </a:xfrm>
          <a:prstGeom prst="rect">
            <a:avLst>
              <a:gd name="adj" fmla="val 14286"/>
            </a:avLst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4630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463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RISKFERA measures strategic fit with InnovaTech  —  Score: 0–100  |  Higher = Better Fit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5394960" cy="329184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682496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93392" y="987552"/>
            <a:ext cx="54864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78608" y="987552"/>
            <a:ext cx="877824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93008" y="987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Link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316736"/>
            <a:ext cx="539496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316736"/>
            <a:ext cx="64008" cy="438912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167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vs InnovaTech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93392" y="13167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131673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22.1%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93008" y="13167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efficiency — product-led shift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1773936"/>
            <a:ext cx="53949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773936"/>
            <a:ext cx="64008" cy="438912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7739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 vs InnovaTech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93392" y="17739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78608" y="177393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12.8%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93008" y="17739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quality — recurring revenue proxy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2231136"/>
            <a:ext cx="539496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231136"/>
            <a:ext cx="64008" cy="438912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311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Sales Growth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93392" y="22311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78608" y="223113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20% CAGR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93008" y="22311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momentum in target's business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2688336"/>
            <a:ext cx="53949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2688336"/>
            <a:ext cx="64008" cy="438912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6883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93392" y="26883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78608" y="268833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100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93008" y="26883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with InnovaTech goals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3145536"/>
            <a:ext cx="539496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145536"/>
            <a:ext cx="64008" cy="438912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14553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Momentum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93392" y="31455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78608" y="314553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20% CAGR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93008" y="31455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earnings — no dilution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3639312"/>
            <a:ext cx="5394960" cy="1243584"/>
          </a:xfrm>
          <a:prstGeom prst="rect">
            <a:avLst/>
          </a:prstGeom>
          <a:solidFill>
            <a:srgbClr val="051A10"/>
          </a:solidFill>
          <a:ln w="12700">
            <a:solidFill>
              <a:srgbClr val="00CC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65760" y="369417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FORMULA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" y="3931920"/>
            <a:ext cx="5175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(ROCE×0.25) + (OPM×0.25) + (Growth×0.20) + (Sector×0.20) + (EPS×0.10)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65760" y="4297680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scored 0–100 relative to InnovaTech benchmarks  |  Result: 0–100 composite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33872" y="987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FIT MAP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33872" y="12801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Software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60336" y="1353312"/>
            <a:ext cx="1591056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60336" y="1353312"/>
            <a:ext cx="2103120" cy="219456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5632" y="12801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33872" y="170078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Services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60336" y="1773936"/>
            <a:ext cx="1591056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60336" y="1773936"/>
            <a:ext cx="2103120" cy="219456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85632" y="170078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833872" y="212140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260336" y="2194560"/>
            <a:ext cx="1591056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60336" y="2194560"/>
            <a:ext cx="1682496" cy="219456"/>
          </a:xfrm>
          <a:prstGeom prst="rect">
            <a:avLst/>
          </a:prstGeom>
          <a:solidFill>
            <a:srgbClr val="88DD44"/>
          </a:solidFill>
          <a:ln w="12700">
            <a:solidFill>
              <a:srgbClr val="88DD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85632" y="212140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8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833872" y="254203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Services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260336" y="2615184"/>
            <a:ext cx="1591056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60336" y="2615184"/>
            <a:ext cx="1261872" cy="21945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85632" y="25420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33872" y="296265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Equip.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260336" y="3035808"/>
            <a:ext cx="1591056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60336" y="3035808"/>
            <a:ext cx="946404" cy="219456"/>
          </a:xfrm>
          <a:prstGeom prst="rect">
            <a:avLst/>
          </a:prstGeom>
          <a:solidFill>
            <a:srgbClr val="FF9944"/>
          </a:solidFill>
          <a:ln w="12700">
            <a:solidFill>
              <a:srgbClr val="FF99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85632" y="296265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833872" y="33832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260336" y="3456432"/>
            <a:ext cx="1591056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60336" y="3456432"/>
            <a:ext cx="841248" cy="219456"/>
          </a:xfrm>
          <a:prstGeom prst="rect">
            <a:avLst/>
          </a:prstGeom>
          <a:solidFill>
            <a:srgbClr val="FF9944"/>
          </a:solidFill>
          <a:ln w="12700">
            <a:solidFill>
              <a:srgbClr val="FF99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85632" y="338328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833872" y="380390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260336" y="3877056"/>
            <a:ext cx="1591056" cy="21945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60336" y="3877056"/>
            <a:ext cx="525780" cy="21945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85632" y="380390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33872" y="4261104"/>
            <a:ext cx="3108960" cy="6217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925312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LABELS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925312" y="44988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→ 🟢 High Synergy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925312" y="466344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55–74 → 🟡 Moderate Synergy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925312" y="482803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&lt;55 → 🔴 Low / Misaligned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46304"/>
            <a:ext cx="475488" cy="320040"/>
          </a:xfrm>
          <a:prstGeom prst="rect">
            <a:avLst>
              <a:gd name="adj" fmla="val 14286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4630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463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Engine  +  Top 5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InnovaTech actually close this deal?  —  Score: 0–100  |  Higher = More Acquirable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3749040" cy="31089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938528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9424" y="987552"/>
            <a:ext cx="365760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9875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298448"/>
            <a:ext cx="374904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298448"/>
            <a:ext cx="64008" cy="40233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984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vs ₹180Cr Budget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9424" y="12984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129844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Deal=MCap×1.25  |  Comfortable≤₹126Cr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1719072"/>
            <a:ext cx="37490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719072"/>
            <a:ext cx="64008" cy="40233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71907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vs InnovaTech 24.5x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9424" y="17190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171907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24.5x = EPS accretive acquisition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2139696"/>
            <a:ext cx="374904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139696"/>
            <a:ext cx="64008" cy="40233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1396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Swap Dilution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49424" y="21396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2139696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&lt;5% dilution of InnovaTech MCap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" y="2560320"/>
            <a:ext cx="37490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560320"/>
            <a:ext cx="64008" cy="40233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5603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49424" y="2560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2560320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 stock return as velocity proxy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6032" y="30540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032" y="3273552"/>
            <a:ext cx="1792224" cy="310896"/>
          </a:xfrm>
          <a:prstGeom prst="rect">
            <a:avLst>
              <a:gd name="adj" fmla="val 35294"/>
            </a:avLst>
          </a:prstGeom>
          <a:solidFill>
            <a:srgbClr val="05101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27355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₹180 Cr deal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21408" y="3273552"/>
            <a:ext cx="1792224" cy="310896"/>
          </a:xfrm>
          <a:prstGeom prst="rect">
            <a:avLst>
              <a:gd name="adj" fmla="val 35294"/>
            </a:avLst>
          </a:prstGeom>
          <a:solidFill>
            <a:srgbClr val="05101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21408" y="327355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 non-cash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657600"/>
            <a:ext cx="1792224" cy="310896"/>
          </a:xfrm>
          <a:prstGeom prst="rect">
            <a:avLst>
              <a:gd name="adj" fmla="val 35294"/>
            </a:avLst>
          </a:prstGeom>
          <a:solidFill>
            <a:srgbClr val="05101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6576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 mo integration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21408" y="3657600"/>
            <a:ext cx="1792224" cy="310896"/>
          </a:xfrm>
          <a:prstGeom prst="rect">
            <a:avLst>
              <a:gd name="adj" fmla="val 35294"/>
            </a:avLst>
          </a:prstGeom>
          <a:solidFill>
            <a:srgbClr val="05101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1408" y="36576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&lt; 24.5x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4078224"/>
            <a:ext cx="3749040" cy="786384"/>
          </a:xfrm>
          <a:prstGeom prst="rect">
            <a:avLst/>
          </a:prstGeom>
          <a:solidFill>
            <a:srgbClr val="05101A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7472" y="4114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ATTRACTIVENESS FORMULA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7472" y="4315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40%×(100−Risk)  +  35%×Synergy  +  25%×Feasibility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7472" y="4572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inverted — lower risk score = better final ranking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69664" y="987552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5 ACQUISITION CANDIDATES  —  REAL MODEL OUTPUT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69664" y="1261872"/>
            <a:ext cx="4773168" cy="32918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87952" y="1261872"/>
            <a:ext cx="219456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25696" y="1261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33872" y="1261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0" y="1261872"/>
            <a:ext cx="438912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Risk↓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23760" y="1261872"/>
            <a:ext cx="438912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Syn↑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680960" y="1261872"/>
            <a:ext cx="475488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Feas↑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174736" y="1261872"/>
            <a:ext cx="676656" cy="32918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Score↑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169664" y="1591056"/>
            <a:ext cx="4773168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06240" y="1682496"/>
            <a:ext cx="292608" cy="29260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0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17136" y="15910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Soluti.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852160" y="1591056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Software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784848" y="1591056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242048" y="1591056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99248" y="1591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93024" y="1655064"/>
            <a:ext cx="676656" cy="347472"/>
          </a:xfrm>
          <a:prstGeom prst="rect">
            <a:avLst>
              <a:gd name="adj" fmla="val 15789"/>
            </a:avLst>
          </a:prstGeom>
          <a:solidFill>
            <a:srgbClr val="051A10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93024" y="1655064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169664" y="2084832"/>
            <a:ext cx="477316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2176272"/>
            <a:ext cx="292608" cy="292608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17136" y="20848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Globtier Infotec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852160" y="2084832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Services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784848" y="208483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242048" y="208483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699248" y="20848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193024" y="2148840"/>
            <a:ext cx="676656" cy="347472"/>
          </a:xfrm>
          <a:prstGeom prst="rect">
            <a:avLst>
              <a:gd name="adj" fmla="val 15789"/>
            </a:avLst>
          </a:prstGeom>
          <a:solidFill>
            <a:srgbClr val="051A10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93024" y="214884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95.08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169664" y="2578608"/>
            <a:ext cx="4773168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06240" y="2670048"/>
            <a:ext cx="292608" cy="292608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517136" y="257860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Handson Global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852160" y="2578608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Services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784848" y="257860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242048" y="257860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699248" y="25786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193024" y="2642616"/>
            <a:ext cx="676656" cy="347472"/>
          </a:xfrm>
          <a:prstGeom prst="rect">
            <a:avLst>
              <a:gd name="adj" fmla="val 15789"/>
            </a:avLst>
          </a:prstGeom>
          <a:solidFill>
            <a:srgbClr val="051A10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93024" y="2642616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169664" y="3072384"/>
            <a:ext cx="477316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06240" y="3163824"/>
            <a:ext cx="292608" cy="29260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06240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517136" y="30723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Edvenswa Enter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852160" y="3072384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Software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784848" y="307238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242048" y="307238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699248" y="307238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193024" y="3136392"/>
            <a:ext cx="676656" cy="347472"/>
          </a:xfrm>
          <a:prstGeom prst="rect">
            <a:avLst>
              <a:gd name="adj" fmla="val 15789"/>
            </a:avLst>
          </a:prstGeom>
          <a:solidFill>
            <a:srgbClr val="051A10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93024" y="3136392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92.69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169664" y="3566160"/>
            <a:ext cx="4773168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206240" y="3657600"/>
            <a:ext cx="292608" cy="29260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062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517136" y="356616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Identixweb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5852160" y="3566160"/>
            <a:ext cx="896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Software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784848" y="356616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7242048" y="356616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699248" y="3566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193024" y="3630168"/>
            <a:ext cx="676656" cy="347472"/>
          </a:xfrm>
          <a:prstGeom prst="rect">
            <a:avLst>
              <a:gd name="adj" fmla="val 15789"/>
            </a:avLst>
          </a:prstGeom>
          <a:solidFill>
            <a:srgbClr val="051A10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93024" y="3630168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92.56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169664" y="4151376"/>
            <a:ext cx="4773168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4261104" y="4187952"/>
            <a:ext cx="4590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SCREENED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4297680" y="43525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4297680" y="4617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5468112" y="43525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5468112" y="4617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638544" y="43525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2000" dirty="0"/>
          </a:p>
        </p:txBody>
      </p:sp>
      <p:sp>
        <p:nvSpPr>
          <p:cNvPr id="110" name="Text 108"/>
          <p:cNvSpPr/>
          <p:nvPr/>
        </p:nvSpPr>
        <p:spPr>
          <a:xfrm>
            <a:off x="6638544" y="4617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808976" y="43525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</a:t>
            </a:r>
            <a:endParaRPr lang="en-US" sz="2000" dirty="0"/>
          </a:p>
        </p:txBody>
      </p:sp>
      <p:sp>
        <p:nvSpPr>
          <p:cNvPr id="112" name="Text 110"/>
          <p:cNvSpPr/>
          <p:nvPr/>
        </p:nvSpPr>
        <p:spPr>
          <a:xfrm>
            <a:off x="7808976" y="46177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RISKFERA AI — Engine Methodology</dc:title>
  <dc:subject>PptxGenJS Presentation</dc:subject>
  <dc:creator>PptxGenJS</dc:creator>
  <cp:lastModifiedBy>PptxGenJS</cp:lastModifiedBy>
  <cp:revision>1</cp:revision>
  <dcterms:created xsi:type="dcterms:W3CDTF">2026-03-01T08:54:13Z</dcterms:created>
  <dcterms:modified xsi:type="dcterms:W3CDTF">2026-03-01T08:54:13Z</dcterms:modified>
</cp:coreProperties>
</file>
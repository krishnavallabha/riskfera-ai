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502920" cy="4924044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 rot="16200000">
            <a:off x="-169164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TARGET INTELLIGENCE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502920"/>
            <a:ext cx="475488" cy="320040"/>
          </a:xfrm>
          <a:prstGeom prst="rect">
            <a:avLst>
              <a:gd name="adj" fmla="val 14286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50292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0058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6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RISKFERA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2450592"/>
            <a:ext cx="5029200" cy="36576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7860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Target Intelligence for InnovaTech Systems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931920"/>
            <a:ext cx="777240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977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68680" y="41696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Sigmas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07208" y="3977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807208" y="41696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Acquisition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45736" y="3977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745736" y="41696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BSE Listed Co.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84264" y="3977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684264" y="41696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· Synergy · Feasibility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731520"/>
            <a:ext cx="3200400" cy="3200400"/>
          </a:xfrm>
          <a:prstGeom prst="ellipse">
            <a:avLst/>
          </a:prstGeom>
          <a:solidFill>
            <a:srgbClr val="112240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0" y="1280160"/>
            <a:ext cx="2103120" cy="2103120"/>
          </a:xfrm>
          <a:prstGeom prst="ellipse">
            <a:avLst/>
          </a:prstGeom>
          <a:solidFill>
            <a:srgbClr val="F4B942">
              <a:alpha val="15000"/>
            </a:srgbClr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155448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🎯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164592"/>
            <a:ext cx="475488" cy="320040"/>
          </a:xfrm>
          <a:prstGeom prst="rect">
            <a:avLst>
              <a:gd name="adj" fmla="val 14286"/>
            </a:avLst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6459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" y="16459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6583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InnovaTech can't rely on traditional acquisition methods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" y="10241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METHODS FAIL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316736"/>
            <a:ext cx="4114800" cy="89611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316736"/>
            <a:ext cx="91440" cy="89611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362456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32688" y="1389888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 Networks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1645920"/>
            <a:ext cx="336499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surface 10–15 companies out of 500+ listed — 97% of the market is invisible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2304288"/>
            <a:ext cx="4114800" cy="89611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304288"/>
            <a:ext cx="91440" cy="89611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50008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32688" y="2377440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Research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2633472"/>
            <a:ext cx="336499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weeks per company — InnovaTech needs answers in hours, not months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3291840"/>
            <a:ext cx="4114800" cy="89611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3291840"/>
            <a:ext cx="91440" cy="89611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33756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32688" y="3364992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Feel Decisions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3621024"/>
            <a:ext cx="336499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financial risks — declining EBITDA, volatile earnings — get missed completely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45152" y="10241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 UNANSWERED QUESTIONS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45152" y="1316736"/>
            <a:ext cx="4206240" cy="804672"/>
          </a:xfrm>
          <a:prstGeom prst="rect">
            <a:avLst/>
          </a:prstGeom>
          <a:solidFill>
            <a:srgbClr val="112240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5152" y="1316736"/>
            <a:ext cx="91440" cy="80467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1316736"/>
            <a:ext cx="365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75504" y="1316736"/>
            <a:ext cx="360273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company in the entire market fits InnovaTech's financial profile?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45152" y="2231136"/>
            <a:ext cx="4206240" cy="804672"/>
          </a:xfrm>
          <a:prstGeom prst="rect">
            <a:avLst/>
          </a:prstGeom>
          <a:solidFill>
            <a:srgbClr val="112240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45152" y="2231136"/>
            <a:ext cx="91440" cy="80467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2231136"/>
            <a:ext cx="365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175504" y="2231136"/>
            <a:ext cx="360273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deal can we actually close within ₹180 Cr and 6 months?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45152" y="3218688"/>
            <a:ext cx="4206240" cy="1664208"/>
          </a:xfrm>
          <a:prstGeom prst="rect">
            <a:avLst/>
          </a:prstGeom>
          <a:solidFill>
            <a:srgbClr val="1A0A0A"/>
          </a:solidFill>
          <a:ln w="12700">
            <a:solidFill>
              <a:srgbClr val="FF4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36592" y="329184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GETTING IT WRONG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36592" y="358444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acquisition = years of integration pain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36592" y="393192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Overpaying = EPS dilution = angry shareholders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36592" y="427939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sector = zero synergies realised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164592"/>
            <a:ext cx="475488" cy="320040"/>
          </a:xfrm>
          <a:prstGeom prst="rect">
            <a:avLst>
              <a:gd name="adj" fmla="val 14286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6459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" y="16459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InnovaTech Profile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6583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we acquiring for — and what are the hard rules?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" y="10058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FY23 → FY25 FINANCIALS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298448"/>
            <a:ext cx="4114800" cy="32918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298448"/>
            <a:ext cx="1700784" cy="32918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93392" y="1298448"/>
            <a:ext cx="1060704" cy="32918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90672" y="1298448"/>
            <a:ext cx="1243584" cy="32918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627632"/>
            <a:ext cx="4114800" cy="402336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16276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93392" y="1627632"/>
            <a:ext cx="10607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₹420 Cr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90672" y="1627632"/>
            <a:ext cx="1243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₹610 Cr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2048256"/>
            <a:ext cx="411480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" y="2048256"/>
            <a:ext cx="164592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93392" y="2048256"/>
            <a:ext cx="10607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₹46 Cr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90672" y="2048256"/>
            <a:ext cx="1243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₹78 Cr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468880"/>
            <a:ext cx="4114800" cy="402336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2468880"/>
            <a:ext cx="164592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93392" y="2468880"/>
            <a:ext cx="10607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90672" y="2468880"/>
            <a:ext cx="1243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2889504"/>
            <a:ext cx="411480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" y="2889504"/>
            <a:ext cx="164592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93392" y="2889504"/>
            <a:ext cx="10607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90672" y="2889504"/>
            <a:ext cx="1243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" y="3310128"/>
            <a:ext cx="4114800" cy="402336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" y="3310128"/>
            <a:ext cx="164592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93392" y="3310128"/>
            <a:ext cx="10607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90672" y="3310128"/>
            <a:ext cx="1243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₹1,911 Cr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45152" y="10058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STRATEGIC GOALS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45152" y="1298448"/>
            <a:ext cx="4206240" cy="420624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45152" y="1298448"/>
            <a:ext cx="402336" cy="42062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1298448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20640" y="12984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AI &amp; software product portfolio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45152" y="1773936"/>
            <a:ext cx="4206240" cy="420624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45152" y="1773936"/>
            <a:ext cx="402336" cy="42062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45152" y="1773936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20640" y="1773936"/>
            <a:ext cx="3657600" cy="42062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recurring revenue share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45152" y="2249424"/>
            <a:ext cx="4206240" cy="420624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45152" y="2249424"/>
            <a:ext cx="402336" cy="42062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45152" y="2249424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20640" y="2249424"/>
            <a:ext cx="3657600" cy="42062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into adjacent tech sectors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45152" y="2724912"/>
            <a:ext cx="4206240" cy="420624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45152" y="2724912"/>
            <a:ext cx="402336" cy="42062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45152" y="2724912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120640" y="2724912"/>
            <a:ext cx="3657600" cy="42062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revenue growth beyond 20% CAGR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56032" y="3657600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ACQUISITION CONSTRAINTS  (non-negotiable)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56032" y="3931920"/>
            <a:ext cx="1371600" cy="969264"/>
          </a:xfrm>
          <a:prstGeom prst="rect">
            <a:avLst/>
          </a:prstGeom>
          <a:solidFill>
            <a:srgbClr val="112240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56032" y="396849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₹180 Cr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256032" y="44256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Deal Value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700784" y="3931920"/>
            <a:ext cx="1371600" cy="969264"/>
          </a:xfrm>
          <a:prstGeom prst="rect">
            <a:avLst/>
          </a:prstGeom>
          <a:solidFill>
            <a:srgbClr val="112240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1700784" y="396849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≥40%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700784" y="44256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Non-Cash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145536" y="3931920"/>
            <a:ext cx="1371600" cy="969264"/>
          </a:xfrm>
          <a:prstGeom prst="rect">
            <a:avLst/>
          </a:prstGeom>
          <a:solidFill>
            <a:srgbClr val="112240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145536" y="396849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₹108 Cr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3145536" y="44256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Cash Out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590288" y="3931920"/>
            <a:ext cx="1371600" cy="969264"/>
          </a:xfrm>
          <a:prstGeom prst="rect">
            <a:avLst/>
          </a:prstGeom>
          <a:solidFill>
            <a:srgbClr val="112240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590288" y="396849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4590288" y="44256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Window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035040" y="3931920"/>
            <a:ext cx="1371600" cy="969264"/>
          </a:xfrm>
          <a:prstGeom prst="rect">
            <a:avLst/>
          </a:prstGeom>
          <a:solidFill>
            <a:srgbClr val="112240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035040" y="396849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yrs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35040" y="44256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Retention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479792" y="3931920"/>
            <a:ext cx="1371600" cy="969264"/>
          </a:xfrm>
          <a:prstGeom prst="rect">
            <a:avLst/>
          </a:prstGeom>
          <a:solidFill>
            <a:srgbClr val="112240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7479792" y="396849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7479792" y="44256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 Realisation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164592"/>
            <a:ext cx="475488" cy="320040"/>
          </a:xfrm>
          <a:prstGeom prst="rect">
            <a:avLst>
              <a:gd name="adj" fmla="val 14286"/>
            </a:avLst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6459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" y="16459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RISKFERA Framework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6583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500+ companies to one confident acquisition recommendation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078992"/>
            <a:ext cx="1298448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4A9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" y="111556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" y="140817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54480" y="1389888"/>
            <a:ext cx="512064" cy="0"/>
          </a:xfrm>
          <a:prstGeom prst="line">
            <a:avLst/>
          </a:prstGeom>
          <a:noFill/>
          <a:ln w="22860">
            <a:solidFill>
              <a:srgbClr val="F4B9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75104" y="1316736"/>
            <a:ext cx="109728" cy="14630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84832" y="1078992"/>
            <a:ext cx="1298448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4A9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84832" y="111556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84832" y="140817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83280" y="1389888"/>
            <a:ext cx="512064" cy="0"/>
          </a:xfrm>
          <a:prstGeom prst="line">
            <a:avLst/>
          </a:prstGeom>
          <a:noFill/>
          <a:ln w="22860">
            <a:solidFill>
              <a:srgbClr val="F4B9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03904" y="1316736"/>
            <a:ext cx="109728" cy="14630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13632" y="1078992"/>
            <a:ext cx="192024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13632" y="11155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13632" y="14081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Engines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73752" y="1737360"/>
            <a:ext cx="0" cy="201168"/>
          </a:xfrm>
          <a:prstGeom prst="line">
            <a:avLst/>
          </a:prstGeom>
          <a:noFill/>
          <a:ln w="19050">
            <a:solidFill>
              <a:srgbClr val="F4B9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13632" y="1993392"/>
            <a:ext cx="1920240" cy="493776"/>
          </a:xfrm>
          <a:prstGeom prst="rect">
            <a:avLst/>
          </a:prstGeom>
          <a:solidFill>
            <a:srgbClr val="0D1B2A"/>
          </a:solidFill>
          <a:ln w="12700">
            <a:solidFill>
              <a:srgbClr val="FF4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913632" y="1993392"/>
            <a:ext cx="91440" cy="493776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59936" y="1993392"/>
            <a:ext cx="1737360" cy="49377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Risk Engine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16552" y="1993392"/>
            <a:ext cx="914400" cy="0"/>
          </a:xfrm>
          <a:prstGeom prst="line">
            <a:avLst/>
          </a:prstGeom>
          <a:noFill/>
          <a:ln w="12700">
            <a:solidFill>
              <a:srgbClr val="F4B9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13632" y="2542032"/>
            <a:ext cx="1920240" cy="493776"/>
          </a:xfrm>
          <a:prstGeom prst="rect">
            <a:avLst/>
          </a:prstGeom>
          <a:solidFill>
            <a:srgbClr val="0D1B2A"/>
          </a:solidFill>
          <a:ln w="12700">
            <a:solidFill>
              <a:srgbClr val="00CC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913632" y="2542032"/>
            <a:ext cx="91440" cy="493776"/>
          </a:xfrm>
          <a:prstGeom prst="rect">
            <a:avLst/>
          </a:prstGeom>
          <a:solidFill>
            <a:srgbClr val="00CC88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59936" y="2542032"/>
            <a:ext cx="1737360" cy="49377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Synergy Engine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913632" y="3090672"/>
            <a:ext cx="1920240" cy="493776"/>
          </a:xfrm>
          <a:prstGeom prst="rect">
            <a:avLst/>
          </a:prstGeom>
          <a:solidFill>
            <a:srgbClr val="0D1B2A"/>
          </a:solidFill>
          <a:ln w="12700">
            <a:solidFill>
              <a:srgbClr val="4A9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913632" y="3090672"/>
            <a:ext cx="91440" cy="493776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59936" y="3090672"/>
            <a:ext cx="1737360" cy="49377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Feasibility Engine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33872" y="1389888"/>
            <a:ext cx="512064" cy="0"/>
          </a:xfrm>
          <a:prstGeom prst="line">
            <a:avLst/>
          </a:prstGeom>
          <a:noFill/>
          <a:ln w="22860">
            <a:solidFill>
              <a:srgbClr val="F4B9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54496" y="1316736"/>
            <a:ext cx="109728" cy="14630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82512" y="1078992"/>
            <a:ext cx="1298448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82512" y="111556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82512" y="140817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680960" y="1389888"/>
            <a:ext cx="512064" cy="0"/>
          </a:xfrm>
          <a:prstGeom prst="line">
            <a:avLst/>
          </a:prstGeom>
          <a:noFill/>
          <a:ln w="22860">
            <a:solidFill>
              <a:srgbClr val="F4B9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01584" y="1316736"/>
            <a:ext cx="109728" cy="14630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11312" y="1024128"/>
            <a:ext cx="804672" cy="768096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211312" y="1115568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11312" y="142646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6032" y="1847088"/>
            <a:ext cx="3602736" cy="310896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1847088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financial columns  ·  500+ rows  ·  Sector labels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56032" y="4315968"/>
            <a:ext cx="8631936" cy="62179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7200" y="4370832"/>
            <a:ext cx="73152" cy="493776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5216" y="43708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Risk Engine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5216" y="46085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 Higher = Riskier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606040" y="4370832"/>
            <a:ext cx="73152" cy="493776"/>
          </a:xfrm>
          <a:prstGeom prst="rect">
            <a:avLst/>
          </a:prstGeom>
          <a:solidFill>
            <a:srgbClr val="00CC88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34056" y="43708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Synergy Engine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734056" y="46085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 Higher = Better Fit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54880" y="4370832"/>
            <a:ext cx="73152" cy="493776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82896" y="43708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Feasibility Engine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82896" y="46085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 Higher = More Doable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903720" y="4370832"/>
            <a:ext cx="73152" cy="493776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1736" y="43708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Final Score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031736" y="46085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40%(100−Risk)+35%Syn+25%Feas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516368" y="2212848"/>
            <a:ext cx="1481328" cy="1572768"/>
          </a:xfrm>
          <a:prstGeom prst="rect">
            <a:avLst/>
          </a:prstGeom>
          <a:solidFill>
            <a:srgbClr val="0A2A1A"/>
          </a:solidFill>
          <a:ln w="12700">
            <a:solidFill>
              <a:srgbClr val="00CC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516368" y="2286000"/>
            <a:ext cx="1481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516368" y="3090672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ACQUIRE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613648" y="1737360"/>
            <a:ext cx="0" cy="475488"/>
          </a:xfrm>
          <a:prstGeom prst="line">
            <a:avLst/>
          </a:prstGeom>
          <a:noFill/>
          <a:ln w="19050">
            <a:solidFill>
              <a:srgbClr val="00CC8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RISKFERA AI — Problem + Framework</dc:title>
  <dc:subject>PptxGenJS Presentation</dc:subject>
  <dc:creator>PptxGenJS</dc:creator>
  <cp:lastModifiedBy>PptxGenJS</cp:lastModifiedBy>
  <cp:revision>1</cp:revision>
  <dcterms:created xsi:type="dcterms:W3CDTF">2026-03-01T08:26:09Z</dcterms:created>
  <dcterms:modified xsi:type="dcterms:W3CDTF">2026-03-01T08:26:09Z</dcterms:modified>
</cp:coreProperties>
</file>